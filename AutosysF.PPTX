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305" r:id="rId3"/>
    <p:sldId id="306" r:id="rId4"/>
    <p:sldId id="257" r:id="rId5"/>
    <p:sldId id="258" r:id="rId6"/>
    <p:sldId id="259" r:id="rId7"/>
    <p:sldId id="260" r:id="rId8"/>
    <p:sldId id="261" r:id="rId9"/>
    <p:sldId id="262" r:id="rId10"/>
    <p:sldId id="294" r:id="rId11"/>
    <p:sldId id="264" r:id="rId12"/>
    <p:sldId id="265" r:id="rId13"/>
    <p:sldId id="266" r:id="rId14"/>
    <p:sldId id="267" r:id="rId15"/>
    <p:sldId id="273" r:id="rId16"/>
    <p:sldId id="270" r:id="rId17"/>
    <p:sldId id="325" r:id="rId18"/>
    <p:sldId id="326" r:id="rId19"/>
    <p:sldId id="327" r:id="rId20"/>
    <p:sldId id="328" r:id="rId21"/>
    <p:sldId id="329" r:id="rId22"/>
    <p:sldId id="330" r:id="rId23"/>
    <p:sldId id="331" r:id="rId24"/>
    <p:sldId id="332" r:id="rId25"/>
    <p:sldId id="333" r:id="rId26"/>
    <p:sldId id="299" r:id="rId27"/>
    <p:sldId id="309" r:id="rId28"/>
    <p:sldId id="319" r:id="rId29"/>
    <p:sldId id="318" r:id="rId30"/>
    <p:sldId id="315" r:id="rId31"/>
    <p:sldId id="342" r:id="rId32"/>
    <p:sldId id="314" r:id="rId33"/>
    <p:sldId id="316" r:id="rId34"/>
    <p:sldId id="302" r:id="rId35"/>
    <p:sldId id="303" r:id="rId36"/>
    <p:sldId id="334" r:id="rId37"/>
    <p:sldId id="335" r:id="rId38"/>
    <p:sldId id="336" r:id="rId39"/>
    <p:sldId id="337" r:id="rId40"/>
    <p:sldId id="338" r:id="rId41"/>
    <p:sldId id="323" r:id="rId42"/>
    <p:sldId id="321" r:id="rId43"/>
    <p:sldId id="322" r:id="rId44"/>
    <p:sldId id="324" r:id="rId45"/>
    <p:sldId id="320" r:id="rId46"/>
    <p:sldId id="339" r:id="rId47"/>
    <p:sldId id="340"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EF7BF5-08D8-4A4D-9069-43CFDF3EBCF1}" type="datetimeFigureOut">
              <a:rPr lang="en-US" smtClean="0"/>
              <a:t>4/6/2019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1887A3-4DE8-40A0-A630-8B865F9BC18E}" type="slidenum">
              <a:rPr lang="en-US" smtClean="0"/>
              <a:t>‹#›</a:t>
            </a:fld>
            <a:endParaRPr lang="en-US"/>
          </a:p>
        </p:txBody>
      </p:sp>
    </p:spTree>
    <p:extLst>
      <p:ext uri="{BB962C8B-B14F-4D97-AF65-F5344CB8AC3E}">
        <p14:creationId xmlns:p14="http://schemas.microsoft.com/office/powerpoint/2010/main" val="1139306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F12AF53-4A74-4347-9761-0EFFEB8E64F3}" type="datetimeFigureOut">
              <a:rPr lang="en-US" smtClean="0"/>
              <a:pPr/>
              <a:t>4/6/2019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0A6B89-C33B-4FA5-9472-F96E38F2573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12AF53-4A74-4347-9761-0EFFEB8E64F3}" type="datetimeFigureOut">
              <a:rPr lang="en-US" smtClean="0"/>
              <a:pPr/>
              <a:t>4/6/2019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0A6B89-C33B-4FA5-9472-F96E38F2573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12AF53-4A74-4347-9761-0EFFEB8E64F3}" type="datetimeFigureOut">
              <a:rPr lang="en-US" smtClean="0"/>
              <a:pPr/>
              <a:t>4/6/2019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0A6B89-C33B-4FA5-9472-F96E38F2573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F12AF53-4A74-4347-9761-0EFFEB8E64F3}" type="datetimeFigureOut">
              <a:rPr lang="en-US" smtClean="0"/>
              <a:pPr/>
              <a:t>4/6/2019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0A6B89-C33B-4FA5-9472-F96E38F2573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F12AF53-4A74-4347-9761-0EFFEB8E64F3}" type="datetimeFigureOut">
              <a:rPr lang="en-US" smtClean="0"/>
              <a:pPr/>
              <a:t>4/6/2019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0A6B89-C33B-4FA5-9472-F96E38F2573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F12AF53-4A74-4347-9761-0EFFEB8E64F3}" type="datetimeFigureOut">
              <a:rPr lang="en-US" smtClean="0"/>
              <a:pPr/>
              <a:t>4/6/2019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0A6B89-C33B-4FA5-9472-F96E38F2573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12AF53-4A74-4347-9761-0EFFEB8E64F3}" type="datetimeFigureOut">
              <a:rPr lang="en-US" smtClean="0"/>
              <a:pPr/>
              <a:t>4/6/2019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0A6B89-C33B-4FA5-9472-F96E38F2573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12AF53-4A74-4347-9761-0EFFEB8E64F3}" type="datetimeFigureOut">
              <a:rPr lang="en-US" smtClean="0"/>
              <a:pPr/>
              <a:t>4/6/2019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0A6B89-C33B-4FA5-9472-F96E38F2573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12AF53-4A74-4347-9761-0EFFEB8E64F3}" type="datetimeFigureOut">
              <a:rPr lang="en-US" smtClean="0"/>
              <a:pPr/>
              <a:t>4/6/2019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0A6B89-C33B-4FA5-9472-F96E38F2573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12AF53-4A74-4347-9761-0EFFEB8E64F3}" type="datetimeFigureOut">
              <a:rPr lang="en-US" smtClean="0"/>
              <a:pPr/>
              <a:t>4/6/2019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0A6B89-C33B-4FA5-9472-F96E38F2573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12AF53-4A74-4347-9761-0EFFEB8E64F3}" type="datetimeFigureOut">
              <a:rPr lang="en-US" smtClean="0"/>
              <a:pPr/>
              <a:t>4/6/2019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0A6B89-C33B-4FA5-9472-F96E38F2573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12AF53-4A74-4347-9761-0EFFEB8E64F3}" type="datetimeFigureOut">
              <a:rPr lang="en-US" smtClean="0"/>
              <a:pPr/>
              <a:t>4/6/2019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0A6B89-C33B-4FA5-9472-F96E38F2573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dirty="0" err="1" smtClean="0"/>
              <a:t>Autosys</a:t>
            </a:r>
            <a:r>
              <a:rPr lang="en-US" sz="6600" dirty="0" smtClean="0"/>
              <a:t>	</a:t>
            </a:r>
            <a:endParaRPr lang="en-US" sz="6600" dirty="0"/>
          </a:p>
        </p:txBody>
      </p:sp>
      <p:sp>
        <p:nvSpPr>
          <p:cNvPr id="3" name="Subtitle 2"/>
          <p:cNvSpPr>
            <a:spLocks noGrp="1"/>
          </p:cNvSpPr>
          <p:nvPr>
            <p:ph type="subTitle" idx="1"/>
          </p:nvPr>
        </p:nvSpPr>
        <p:spPr/>
        <p:txBody>
          <a:bodyPr/>
          <a:lstStyle/>
          <a:p>
            <a:r>
              <a:rPr lang="en-US" dirty="0" smtClean="0"/>
              <a:t>Job Scheduling</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a:t> </a:t>
            </a:r>
          </a:p>
          <a:p>
            <a:pPr marL="0" lvl="0" indent="0">
              <a:buNone/>
            </a:pPr>
            <a:r>
              <a:rPr lang="en-US" dirty="0" smtClean="0"/>
              <a:t>Introduction </a:t>
            </a:r>
            <a:r>
              <a:rPr lang="en-US" dirty="0"/>
              <a:t>to </a:t>
            </a:r>
            <a:r>
              <a:rPr lang="en-US" dirty="0" err="1"/>
              <a:t>Autosys</a:t>
            </a:r>
            <a:endParaRPr lang="en-US" dirty="0"/>
          </a:p>
          <a:p>
            <a:pPr marL="400050" lvl="1" indent="0">
              <a:buNone/>
            </a:pPr>
            <a:r>
              <a:rPr lang="en-US" dirty="0"/>
              <a:t>Reason for using </a:t>
            </a:r>
            <a:r>
              <a:rPr lang="en-US" dirty="0" err="1"/>
              <a:t>Autosys</a:t>
            </a:r>
            <a:endParaRPr lang="en-US" dirty="0"/>
          </a:p>
          <a:p>
            <a:pPr marL="400050" lvl="1" indent="0">
              <a:buNone/>
            </a:pPr>
            <a:r>
              <a:rPr lang="en-US" dirty="0"/>
              <a:t>System Components</a:t>
            </a:r>
          </a:p>
          <a:p>
            <a:pPr marL="400050" lvl="1" indent="0">
              <a:buNone/>
            </a:pPr>
            <a:r>
              <a:rPr lang="en-US" dirty="0"/>
              <a:t>Event server ; Event Processor; Remote Agent Shadow Processor ; High Availability mode</a:t>
            </a:r>
          </a:p>
          <a:p>
            <a:pPr marL="400050" lvl="1" indent="0">
              <a:buNone/>
            </a:pPr>
            <a:r>
              <a:rPr lang="en-US" dirty="0"/>
              <a:t>Environment variables </a:t>
            </a:r>
          </a:p>
          <a:p>
            <a:pPr marL="0" lvl="0" indent="0">
              <a:buNone/>
            </a:pPr>
            <a:r>
              <a:rPr lang="en-US" dirty="0" err="1"/>
              <a:t>Autosys</a:t>
            </a:r>
            <a:r>
              <a:rPr lang="en-US" dirty="0"/>
              <a:t> Console</a:t>
            </a:r>
          </a:p>
          <a:p>
            <a:pPr marL="0" lvl="0" indent="0">
              <a:buNone/>
            </a:pPr>
            <a:r>
              <a:rPr lang="en-US" dirty="0"/>
              <a:t>Work Flow of </a:t>
            </a:r>
            <a:r>
              <a:rPr lang="en-US" dirty="0" err="1"/>
              <a:t>Autosys</a:t>
            </a:r>
            <a:endParaRPr lang="en-US" dirty="0"/>
          </a:p>
          <a:p>
            <a:pPr marL="0" lvl="0" indent="0">
              <a:buNone/>
            </a:pPr>
            <a:r>
              <a:rPr lang="en-US" dirty="0"/>
              <a:t>GUI and CLI</a:t>
            </a:r>
          </a:p>
          <a:p>
            <a:pPr marL="0" lvl="0" indent="0">
              <a:buNone/>
            </a:pPr>
            <a:r>
              <a:rPr lang="en-US" dirty="0"/>
              <a:t>Creating jobs using GUI</a:t>
            </a:r>
          </a:p>
          <a:p>
            <a:pPr marL="400050" lvl="1" indent="0">
              <a:buNone/>
            </a:pPr>
            <a:r>
              <a:rPr lang="en-US" dirty="0" smtClean="0"/>
              <a:t>Parameters </a:t>
            </a:r>
            <a:r>
              <a:rPr lang="en-US" dirty="0"/>
              <a:t>defined</a:t>
            </a:r>
          </a:p>
          <a:p>
            <a:pPr marL="400050" lvl="1" indent="0">
              <a:buNone/>
            </a:pPr>
            <a:r>
              <a:rPr lang="en-US" dirty="0"/>
              <a:t>Conditions, </a:t>
            </a:r>
            <a:r>
              <a:rPr lang="en-US" dirty="0" smtClean="0"/>
              <a:t>Calendars</a:t>
            </a:r>
            <a:endParaRPr lang="en-US" dirty="0"/>
          </a:p>
          <a:p>
            <a:pPr marL="0" indent="0">
              <a:buNone/>
            </a:pPr>
            <a:endParaRPr lang="en-US" dirty="0"/>
          </a:p>
        </p:txBody>
      </p:sp>
    </p:spTree>
    <p:extLst>
      <p:ext uri="{BB962C8B-B14F-4D97-AF65-F5344CB8AC3E}">
        <p14:creationId xmlns:p14="http://schemas.microsoft.com/office/powerpoint/2010/main" val="2809310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592763"/>
          </a:xfrm>
        </p:spPr>
        <p:txBody>
          <a:bodyPr>
            <a:normAutofit/>
          </a:bodyPr>
          <a:lstStyle/>
          <a:p>
            <a:pPr marL="0" indent="0">
              <a:buNone/>
            </a:pPr>
            <a:r>
              <a:rPr lang="en-US" sz="2400" dirty="0" smtClean="0"/>
              <a:t>	</a:t>
            </a:r>
          </a:p>
          <a:p>
            <a:pPr marL="0" indent="0">
              <a:buNone/>
            </a:pPr>
            <a:r>
              <a:rPr lang="en-US" sz="2400" dirty="0"/>
              <a:t>	</a:t>
            </a:r>
            <a:r>
              <a:rPr lang="en-US" sz="2400" dirty="0" smtClean="0"/>
              <a:t>Creating </a:t>
            </a:r>
            <a:r>
              <a:rPr lang="en-US" sz="2400" dirty="0"/>
              <a:t>jobs using CLI</a:t>
            </a:r>
          </a:p>
          <a:p>
            <a:pPr marL="1257300" lvl="3" indent="0">
              <a:buNone/>
            </a:pPr>
            <a:r>
              <a:rPr lang="en-US" dirty="0" smtClean="0"/>
              <a:t>Job </a:t>
            </a:r>
            <a:r>
              <a:rPr lang="en-US" dirty="0"/>
              <a:t>Types</a:t>
            </a:r>
          </a:p>
          <a:p>
            <a:pPr marL="1257300" lvl="3" indent="0">
              <a:buNone/>
            </a:pPr>
            <a:r>
              <a:rPr lang="en-US" dirty="0"/>
              <a:t>File Watcher</a:t>
            </a:r>
          </a:p>
          <a:p>
            <a:pPr marL="1257300" lvl="3" indent="0">
              <a:buNone/>
            </a:pPr>
            <a:r>
              <a:rPr lang="en-US" dirty="0"/>
              <a:t>Command</a:t>
            </a:r>
          </a:p>
          <a:p>
            <a:pPr marL="1257300" lvl="3" indent="0">
              <a:buNone/>
            </a:pPr>
            <a:r>
              <a:rPr lang="en-US" dirty="0"/>
              <a:t>Box</a:t>
            </a:r>
          </a:p>
          <a:p>
            <a:pPr marL="0" lvl="0" indent="0">
              <a:buNone/>
            </a:pPr>
            <a:r>
              <a:rPr lang="en-US" sz="2400" dirty="0" smtClean="0"/>
              <a:t>	Job </a:t>
            </a:r>
            <a:r>
              <a:rPr lang="en-US" sz="2400" dirty="0"/>
              <a:t>States</a:t>
            </a:r>
          </a:p>
          <a:p>
            <a:pPr lvl="2"/>
            <a:r>
              <a:rPr lang="en-US" dirty="0"/>
              <a:t>Difference in ON-HOLD and </a:t>
            </a:r>
            <a:r>
              <a:rPr lang="en-US" dirty="0" smtClean="0"/>
              <a:t>ON-ICE</a:t>
            </a:r>
          </a:p>
          <a:p>
            <a:pPr lvl="2"/>
            <a:r>
              <a:rPr lang="en-US" sz="2400" dirty="0" smtClean="0"/>
              <a:t>File </a:t>
            </a:r>
            <a:r>
              <a:rPr lang="en-US" sz="2400" dirty="0"/>
              <a:t>watch jobs and dependencies</a:t>
            </a:r>
          </a:p>
          <a:p>
            <a:pPr marL="0" indent="0">
              <a:buNone/>
            </a:pPr>
            <a:endParaRPr lang="en-US" sz="2400" dirty="0"/>
          </a:p>
        </p:txBody>
      </p:sp>
    </p:spTree>
    <p:extLst>
      <p:ext uri="{BB962C8B-B14F-4D97-AF65-F5344CB8AC3E}">
        <p14:creationId xmlns:p14="http://schemas.microsoft.com/office/powerpoint/2010/main" val="1785757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t>
            </a:r>
            <a:r>
              <a:rPr lang="en-US" dirty="0" err="1" smtClean="0"/>
              <a:t>Autosys</a:t>
            </a:r>
            <a:r>
              <a:rPr lang="en-US" dirty="0" smtClean="0"/>
              <a:t>?</a:t>
            </a:r>
            <a:endParaRPr lang="en-US" dirty="0"/>
          </a:p>
        </p:txBody>
      </p:sp>
      <p:sp>
        <p:nvSpPr>
          <p:cNvPr id="3" name="Content Placeholder 2"/>
          <p:cNvSpPr>
            <a:spLocks noGrp="1"/>
          </p:cNvSpPr>
          <p:nvPr>
            <p:ph idx="1"/>
          </p:nvPr>
        </p:nvSpPr>
        <p:spPr/>
        <p:txBody>
          <a:bodyPr>
            <a:noAutofit/>
          </a:bodyPr>
          <a:lstStyle/>
          <a:p>
            <a:pPr>
              <a:buNone/>
            </a:pPr>
            <a:r>
              <a:rPr lang="en-US" sz="2800" dirty="0" smtClean="0"/>
              <a:t>A job Scheduling software.</a:t>
            </a:r>
          </a:p>
          <a:p>
            <a:pPr>
              <a:buNone/>
            </a:pPr>
            <a:endParaRPr lang="en-US" sz="2800" dirty="0" smtClean="0"/>
          </a:p>
          <a:p>
            <a:pPr>
              <a:buNone/>
            </a:pPr>
            <a:r>
              <a:rPr lang="en-US" sz="2800" dirty="0" smtClean="0"/>
              <a:t>An automated job control system used for:-</a:t>
            </a:r>
          </a:p>
          <a:p>
            <a:pPr>
              <a:buNone/>
            </a:pPr>
            <a:r>
              <a:rPr lang="en-US" sz="2800" dirty="0" smtClean="0"/>
              <a:t> Scheduling</a:t>
            </a:r>
          </a:p>
          <a:p>
            <a:pPr>
              <a:buNone/>
            </a:pPr>
            <a:r>
              <a:rPr lang="en-US" sz="2800" dirty="0" smtClean="0"/>
              <a:t>Monitoring, and </a:t>
            </a:r>
          </a:p>
          <a:p>
            <a:pPr>
              <a:buNone/>
            </a:pPr>
            <a:r>
              <a:rPr lang="en-US" sz="2800" dirty="0" smtClean="0"/>
              <a:t>Reporting jobs</a:t>
            </a:r>
          </a:p>
          <a:p>
            <a:pPr>
              <a:buNone/>
            </a:pPr>
            <a:endParaRPr lang="en-US" sz="2800" dirty="0"/>
          </a:p>
          <a:p>
            <a:pPr>
              <a:buNone/>
            </a:pPr>
            <a:r>
              <a:rPr lang="en-US" sz="2800" dirty="0" smtClean="0"/>
              <a:t>The jobs can reside on an </a:t>
            </a:r>
            <a:r>
              <a:rPr lang="en-US" sz="2800" dirty="0" err="1" smtClean="0"/>
              <a:t>Autosys</a:t>
            </a:r>
            <a:r>
              <a:rPr lang="en-US" sz="2800" dirty="0" smtClean="0"/>
              <a:t> configured machine attached to a network.</a:t>
            </a:r>
          </a:p>
          <a:p>
            <a:pPr>
              <a:buNone/>
            </a:pPr>
            <a:r>
              <a:rPr lang="en-US" sz="2800" dirty="0" smtClean="0"/>
              <a:t/>
            </a:r>
            <a:br>
              <a:rPr lang="en-US" sz="2800" dirty="0" smtClean="0"/>
            </a:b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305800" cy="5821363"/>
          </a:xfrm>
        </p:spPr>
        <p:txBody>
          <a:bodyPr>
            <a:normAutofit lnSpcReduction="10000"/>
          </a:bodyPr>
          <a:lstStyle/>
          <a:p>
            <a:pPr>
              <a:buNone/>
            </a:pPr>
            <a:r>
              <a:rPr lang="en-US" sz="2400" dirty="0" smtClean="0"/>
              <a:t>Job can be :-</a:t>
            </a:r>
          </a:p>
          <a:p>
            <a:r>
              <a:rPr lang="en-US" sz="2400" dirty="0" smtClean="0"/>
              <a:t>An executable  </a:t>
            </a:r>
          </a:p>
          <a:p>
            <a:r>
              <a:rPr lang="en-US" sz="2400" dirty="0" smtClean="0"/>
              <a:t>A single command</a:t>
            </a:r>
          </a:p>
          <a:p>
            <a:r>
              <a:rPr lang="en-US" sz="2400" dirty="0" smtClean="0"/>
              <a:t>Script</a:t>
            </a:r>
          </a:p>
          <a:p>
            <a:r>
              <a:rPr lang="en-US" sz="2400" dirty="0" smtClean="0"/>
              <a:t>Batch file</a:t>
            </a:r>
          </a:p>
          <a:p>
            <a:pPr>
              <a:buNone/>
            </a:pPr>
            <a:endParaRPr lang="en-US" sz="2800" b="1" dirty="0" smtClean="0"/>
          </a:p>
          <a:p>
            <a:pPr>
              <a:buNone/>
            </a:pPr>
            <a:r>
              <a:rPr lang="en-US" sz="2800" b="1" dirty="0" smtClean="0"/>
              <a:t>   WHY </a:t>
            </a:r>
            <a:r>
              <a:rPr lang="en-US" sz="2800" b="1" dirty="0" err="1" smtClean="0"/>
              <a:t>Autosys</a:t>
            </a:r>
            <a:r>
              <a:rPr lang="en-US" sz="2800" b="1" dirty="0" smtClean="0"/>
              <a:t>?  (Event driven architecture)</a:t>
            </a:r>
          </a:p>
          <a:p>
            <a:pPr>
              <a:buNone/>
            </a:pPr>
            <a:r>
              <a:rPr lang="en-US" sz="2400" dirty="0" smtClean="0"/>
              <a:t>Basic job scheduling is done using </a:t>
            </a:r>
            <a:r>
              <a:rPr lang="en-US" sz="2400" dirty="0" err="1" smtClean="0"/>
              <a:t>unix</a:t>
            </a:r>
            <a:r>
              <a:rPr lang="en-US" sz="2400" dirty="0" smtClean="0"/>
              <a:t> - </a:t>
            </a:r>
            <a:r>
              <a:rPr lang="en-US" sz="2400" b="1" dirty="0" err="1" smtClean="0"/>
              <a:t>Cron</a:t>
            </a:r>
            <a:r>
              <a:rPr lang="en-US" sz="2400" dirty="0" smtClean="0"/>
              <a:t>, which is “</a:t>
            </a:r>
            <a:r>
              <a:rPr lang="en-US" sz="2400" b="1" dirty="0" smtClean="0"/>
              <a:t>time based</a:t>
            </a:r>
            <a:r>
              <a:rPr lang="en-US" sz="2400" dirty="0" smtClean="0"/>
              <a:t>", it will fire the job based on the clock.</a:t>
            </a:r>
          </a:p>
          <a:p>
            <a:pPr>
              <a:buNone/>
            </a:pPr>
            <a:r>
              <a:rPr lang="en-US" sz="2400" dirty="0" smtClean="0"/>
              <a:t> However, in real business, you need to fire jobs based on events (like an arrival of a file), success or failure of other jobs.</a:t>
            </a:r>
          </a:p>
          <a:p>
            <a:pPr>
              <a:buNone/>
            </a:pPr>
            <a:r>
              <a:rPr lang="en-US" sz="2400" dirty="0" smtClean="0"/>
              <a:t> </a:t>
            </a:r>
            <a:r>
              <a:rPr lang="en-US" sz="2400" dirty="0" err="1" smtClean="0"/>
              <a:t>Autosys</a:t>
            </a:r>
            <a:r>
              <a:rPr lang="en-US" sz="2400" dirty="0" smtClean="0"/>
              <a:t> - allows you to define these events, dependencies, time schedules, alerts, etc, making it a complete data center automation tool. </a:t>
            </a:r>
          </a:p>
          <a:p>
            <a:pPr>
              <a:buNone/>
            </a:pP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dirty="0" err="1" smtClean="0"/>
              <a:t>Autosys</a:t>
            </a:r>
            <a:r>
              <a:rPr lang="en-US" dirty="0" smtClean="0"/>
              <a:t> System Components </a:t>
            </a:r>
            <a:endParaRPr lang="en-US" dirty="0"/>
          </a:p>
        </p:txBody>
      </p:sp>
      <p:sp>
        <p:nvSpPr>
          <p:cNvPr id="3" name="Content Placeholder 2"/>
          <p:cNvSpPr>
            <a:spLocks noGrp="1"/>
          </p:cNvSpPr>
          <p:nvPr>
            <p:ph idx="1"/>
          </p:nvPr>
        </p:nvSpPr>
        <p:spPr>
          <a:xfrm>
            <a:off x="457200" y="1219200"/>
            <a:ext cx="8229600" cy="5257800"/>
          </a:xfrm>
        </p:spPr>
        <p:txBody>
          <a:bodyPr>
            <a:noAutofit/>
          </a:bodyPr>
          <a:lstStyle/>
          <a:p>
            <a:r>
              <a:rPr lang="en-US" sz="2800" dirty="0" smtClean="0"/>
              <a:t>Event Server</a:t>
            </a:r>
          </a:p>
          <a:p>
            <a:r>
              <a:rPr lang="en-US" sz="2800" dirty="0" smtClean="0"/>
              <a:t>Event Processor</a:t>
            </a:r>
          </a:p>
          <a:p>
            <a:r>
              <a:rPr lang="en-US" sz="2800" dirty="0" smtClean="0"/>
              <a:t>Remote Agent</a:t>
            </a:r>
          </a:p>
          <a:p>
            <a:pPr>
              <a:buNone/>
            </a:pPr>
            <a:r>
              <a:rPr lang="en-US" sz="2800" u="sng" dirty="0" smtClean="0"/>
              <a:t>Event Server</a:t>
            </a:r>
            <a:r>
              <a:rPr lang="en-US" sz="2800" dirty="0" smtClean="0"/>
              <a:t>:-</a:t>
            </a:r>
          </a:p>
          <a:p>
            <a:pPr>
              <a:buNone/>
            </a:pPr>
            <a:r>
              <a:rPr lang="en-US" sz="2800" dirty="0" smtClean="0"/>
              <a:t>--The event server is the </a:t>
            </a:r>
            <a:r>
              <a:rPr lang="en-US" sz="2800" b="1" dirty="0" err="1" smtClean="0"/>
              <a:t>AutoSys</a:t>
            </a:r>
            <a:r>
              <a:rPr lang="en-US" sz="2800" b="1" dirty="0" smtClean="0"/>
              <a:t> database.</a:t>
            </a:r>
            <a:r>
              <a:rPr lang="en-US" sz="2800" dirty="0" smtClean="0"/>
              <a:t> </a:t>
            </a:r>
          </a:p>
          <a:p>
            <a:pPr>
              <a:buNone/>
            </a:pPr>
            <a:r>
              <a:rPr lang="en-US" sz="2800" dirty="0" smtClean="0"/>
              <a:t>--</a:t>
            </a:r>
            <a:r>
              <a:rPr lang="en-US" sz="2800" dirty="0"/>
              <a:t> </a:t>
            </a:r>
            <a:r>
              <a:rPr lang="en-US" sz="2800" dirty="0" smtClean="0"/>
              <a:t>Stores all </a:t>
            </a:r>
            <a:r>
              <a:rPr lang="en-US" sz="2800" b="1" dirty="0" smtClean="0"/>
              <a:t>system state information</a:t>
            </a:r>
            <a:r>
              <a:rPr lang="en-US" sz="2800" dirty="0" smtClean="0"/>
              <a:t> such as all jobs, monitors, calendar, report definitions etc. </a:t>
            </a:r>
          </a:p>
          <a:p>
            <a:pPr>
              <a:buNone/>
            </a:pPr>
            <a:r>
              <a:rPr lang="en-US" sz="2800" dirty="0" smtClean="0"/>
              <a:t>-- Stores the systems active state such as :-</a:t>
            </a:r>
          </a:p>
          <a:p>
            <a:pPr>
              <a:buNone/>
            </a:pPr>
            <a:r>
              <a:rPr lang="en-US" sz="2800" dirty="0" smtClean="0"/>
              <a:t>    event </a:t>
            </a:r>
            <a:r>
              <a:rPr lang="en-US" sz="2800" dirty="0"/>
              <a:t>status, machine statuses, job statuses and machine queues. </a:t>
            </a:r>
          </a:p>
          <a:p>
            <a:pPr>
              <a:buNone/>
            </a:pPr>
            <a:r>
              <a:rPr lang="en-US" sz="2800" dirty="0" smtClean="0"/>
              <a:t/>
            </a:r>
            <a:br>
              <a:rPr lang="en-US" sz="2800" dirty="0" smtClean="0"/>
            </a:br>
            <a:r>
              <a:rPr lang="en-US" sz="2800" dirty="0" smtClean="0"/>
              <a:t/>
            </a:r>
            <a:br>
              <a:rPr lang="en-US" sz="2800" dirty="0" smtClean="0"/>
            </a:br>
            <a:r>
              <a:rPr lang="en-US" sz="2800" dirty="0" smtClean="0"/>
              <a:t/>
            </a:r>
            <a:br>
              <a:rPr lang="en-US" sz="2800" dirty="0" smtClean="0"/>
            </a:b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458200" cy="5821363"/>
          </a:xfrm>
        </p:spPr>
        <p:txBody>
          <a:bodyPr>
            <a:noAutofit/>
          </a:bodyPr>
          <a:lstStyle/>
          <a:p>
            <a:pPr algn="ctr">
              <a:buNone/>
            </a:pPr>
            <a:r>
              <a:rPr lang="en-US" sz="2800" dirty="0" smtClean="0"/>
              <a:t/>
            </a:r>
            <a:br>
              <a:rPr lang="en-US" sz="2800" dirty="0" smtClean="0"/>
            </a:br>
            <a:r>
              <a:rPr lang="en-US" sz="2800" b="1" u="sng" dirty="0" smtClean="0"/>
              <a:t> • Event Processor</a:t>
            </a:r>
          </a:p>
          <a:p>
            <a:pPr>
              <a:buNone/>
            </a:pPr>
            <a:endParaRPr lang="en-US" sz="2800" b="1" u="sng" dirty="0"/>
          </a:p>
          <a:p>
            <a:pPr>
              <a:buNone/>
            </a:pPr>
            <a:r>
              <a:rPr lang="en-US" sz="2800" dirty="0"/>
              <a:t>	</a:t>
            </a:r>
            <a:r>
              <a:rPr lang="en-US" sz="2800" dirty="0" smtClean="0"/>
              <a:t>Program, running either as a UNIX process or as a Windows service, that actually runs </a:t>
            </a:r>
            <a:r>
              <a:rPr lang="en-US" sz="2800" b="1" dirty="0" err="1" smtClean="0"/>
              <a:t>AutoSys</a:t>
            </a:r>
            <a:r>
              <a:rPr lang="en-US" sz="2800" b="1" dirty="0" smtClean="0"/>
              <a:t> </a:t>
            </a:r>
          </a:p>
          <a:p>
            <a:r>
              <a:rPr lang="en-US" sz="2800" dirty="0" smtClean="0"/>
              <a:t> Interprets and processes all the events it reads from the </a:t>
            </a:r>
            <a:r>
              <a:rPr lang="en-US" sz="2800" dirty="0" err="1" smtClean="0"/>
              <a:t>Autosys</a:t>
            </a:r>
            <a:r>
              <a:rPr lang="en-US" sz="2800" dirty="0" smtClean="0"/>
              <a:t> Database</a:t>
            </a:r>
          </a:p>
          <a:p>
            <a:r>
              <a:rPr lang="en-US" sz="2800" dirty="0" smtClean="0"/>
              <a:t> Continually scans the database for processing events. Checks if the events satisfy the starting conditions of the job and the determines the actions</a:t>
            </a:r>
          </a:p>
          <a:p>
            <a:pPr>
              <a:buNone/>
            </a:pPr>
            <a:endParaRPr lang="en-US" sz="2800" b="1" u="sng"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lgn="ctr">
              <a:buNone/>
            </a:pPr>
            <a:r>
              <a:rPr lang="en-US" sz="2800" b="1" u="sng" dirty="0" smtClean="0"/>
              <a:t>• Remote Agent</a:t>
            </a:r>
            <a:r>
              <a:rPr lang="en-US" sz="2800" dirty="0" smtClean="0"/>
              <a:t/>
            </a:r>
            <a:br>
              <a:rPr lang="en-US" sz="2800" dirty="0" smtClean="0"/>
            </a:br>
            <a:endParaRPr lang="en-US" sz="2800" dirty="0" smtClean="0"/>
          </a:p>
          <a:p>
            <a:r>
              <a:rPr lang="en-US" sz="2800" dirty="0" smtClean="0"/>
              <a:t> Temporary process started by the event processor to perform a specific task on a remote machine</a:t>
            </a:r>
          </a:p>
          <a:p>
            <a:r>
              <a:rPr lang="en-US" sz="2800" dirty="0" smtClean="0"/>
              <a:t> It starts the command specified for a given job, sends running and completion information about a task to the Event Server</a:t>
            </a:r>
          </a:p>
          <a:p>
            <a:r>
              <a:rPr lang="en-US" sz="2800" dirty="0" smtClean="0"/>
              <a:t>If it is unable to transfer the information, it waits and tries until it successfully communicates with the Db</a:t>
            </a:r>
          </a:p>
          <a:p>
            <a:pPr>
              <a:buNone/>
            </a:pP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458200" cy="6248400"/>
          </a:xfrm>
        </p:spPr>
        <p:txBody>
          <a:bodyPr>
            <a:normAutofit/>
          </a:bodyPr>
          <a:lstStyle/>
          <a:p>
            <a:pPr marL="0" indent="0" algn="ctr">
              <a:buNone/>
            </a:pPr>
            <a:r>
              <a:rPr lang="en-US" b="1" u="sng" dirty="0" smtClean="0"/>
              <a:t>Shadow Processor</a:t>
            </a:r>
          </a:p>
          <a:p>
            <a:pPr>
              <a:buNone/>
            </a:pPr>
            <a:r>
              <a:rPr lang="en-US" sz="2800" dirty="0" smtClean="0"/>
              <a:t>Using single </a:t>
            </a:r>
            <a:r>
              <a:rPr lang="en-US" sz="2800" dirty="0" err="1" smtClean="0"/>
              <a:t>Autosys</a:t>
            </a:r>
            <a:r>
              <a:rPr lang="en-US" sz="2800" dirty="0" smtClean="0"/>
              <a:t> server, restricts the uptime of server during patches.</a:t>
            </a:r>
          </a:p>
          <a:p>
            <a:pPr>
              <a:buNone/>
            </a:pPr>
            <a:r>
              <a:rPr lang="en-US" sz="2800" dirty="0" smtClean="0"/>
              <a:t>Single point of failure</a:t>
            </a:r>
            <a:r>
              <a:rPr lang="en-US" sz="2800" dirty="0" smtClean="0">
                <a:sym typeface="Wingdings" panose="05000000000000000000" pitchFamily="2" charset="2"/>
              </a:rPr>
              <a:t> high vulnerability</a:t>
            </a:r>
            <a:endParaRPr lang="en-US" sz="2800" dirty="0" smtClean="0"/>
          </a:p>
          <a:p>
            <a:pPr>
              <a:buNone/>
            </a:pPr>
            <a:r>
              <a:rPr lang="en-US" sz="2800" dirty="0" smtClean="0"/>
              <a:t>Only option is to take </a:t>
            </a:r>
            <a:r>
              <a:rPr lang="en-US" sz="2800" dirty="0" err="1" smtClean="0"/>
              <a:t>Autosys</a:t>
            </a:r>
            <a:r>
              <a:rPr lang="en-US" sz="2800" dirty="0" smtClean="0"/>
              <a:t> down to perform  patching.</a:t>
            </a:r>
          </a:p>
          <a:p>
            <a:pPr>
              <a:buNone/>
            </a:pPr>
            <a:r>
              <a:rPr lang="en-US" sz="2800" b="1" dirty="0" smtClean="0"/>
              <a:t>SOLUTION</a:t>
            </a:r>
            <a:r>
              <a:rPr lang="en-US" sz="2800" dirty="0" smtClean="0"/>
              <a:t> is to use High Availability Mode i.e. Shadow Processor and Dual Event.</a:t>
            </a:r>
          </a:p>
          <a:p>
            <a:pPr>
              <a:buNone/>
            </a:pPr>
            <a:endParaRPr lang="en-US" sz="1400" dirty="0" smtClean="0"/>
          </a:p>
          <a:p>
            <a:pPr>
              <a:buNone/>
            </a:pPr>
            <a:r>
              <a:rPr lang="en-US" sz="2800" b="1" dirty="0" smtClean="0"/>
              <a:t>Shadow processor</a:t>
            </a:r>
            <a:r>
              <a:rPr lang="en-US" sz="2800" dirty="0" smtClean="0">
                <a:sym typeface="Wingdings" panose="05000000000000000000" pitchFamily="2" charset="2"/>
              </a:rPr>
              <a:t> Runs on separate Machine</a:t>
            </a:r>
            <a:endParaRPr lang="en-US" sz="2800" dirty="0" smtClean="0"/>
          </a:p>
          <a:p>
            <a:pPr>
              <a:buNone/>
            </a:pPr>
            <a:r>
              <a:rPr lang="en-US" sz="2800" dirty="0" smtClean="0"/>
              <a:t>--failover </a:t>
            </a:r>
            <a:r>
              <a:rPr lang="en-US" sz="2800" dirty="0" err="1" smtClean="0"/>
              <a:t>Autosys</a:t>
            </a:r>
            <a:r>
              <a:rPr lang="en-US" sz="2800" dirty="0" smtClean="0"/>
              <a:t> to the shadow event processor (single server mode) </a:t>
            </a:r>
            <a:r>
              <a:rPr lang="en-US" sz="2800" dirty="0" smtClean="0">
                <a:sym typeface="Wingdings" pitchFamily="2" charset="2"/>
              </a:rPr>
              <a:t></a:t>
            </a:r>
            <a:r>
              <a:rPr lang="en-US" sz="2800" dirty="0" err="1" smtClean="0"/>
              <a:t>Autosys</a:t>
            </a:r>
            <a:r>
              <a:rPr lang="en-US" sz="2800" dirty="0" smtClean="0"/>
              <a:t> will continue to run batch jobs </a:t>
            </a:r>
            <a:r>
              <a:rPr lang="en-US" sz="2800" dirty="0" smtClean="0">
                <a:sym typeface="Wingdings" pitchFamily="2" charset="2"/>
              </a:rPr>
              <a:t></a:t>
            </a:r>
            <a:r>
              <a:rPr lang="en-US" sz="2800" dirty="0" smtClean="0"/>
              <a:t> apply patches to the primary </a:t>
            </a:r>
            <a:r>
              <a:rPr lang="en-US" sz="2800" dirty="0" err="1" smtClean="0"/>
              <a:t>Autosys</a:t>
            </a:r>
            <a:r>
              <a:rPr lang="en-US" sz="2800" dirty="0" smtClean="0"/>
              <a:t> server. </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228600"/>
            <a:ext cx="8229600" cy="5897563"/>
          </a:xfrm>
        </p:spPr>
        <p:txBody>
          <a:bodyPr>
            <a:normAutofit fontScale="92500" lnSpcReduction="20000"/>
          </a:bodyPr>
          <a:lstStyle/>
          <a:p>
            <a:pPr marL="0" indent="0" algn="ctr">
              <a:buNone/>
            </a:pPr>
            <a:r>
              <a:rPr lang="en-US" b="1" u="sng" dirty="0" smtClean="0"/>
              <a:t>INSTANCE?</a:t>
            </a:r>
          </a:p>
          <a:p>
            <a:pPr marL="0" indent="0">
              <a:buNone/>
            </a:pPr>
            <a:endParaRPr lang="en-US" dirty="0"/>
          </a:p>
          <a:p>
            <a:pPr marL="0" indent="0">
              <a:buNone/>
            </a:pPr>
            <a:r>
              <a:rPr lang="en-US" dirty="0" smtClean="0"/>
              <a:t>A set of server and client event processor.</a:t>
            </a:r>
          </a:p>
          <a:p>
            <a:pPr marL="0" indent="0">
              <a:buNone/>
            </a:pPr>
            <a:r>
              <a:rPr lang="en-US" dirty="0" smtClean="0"/>
              <a:t>      Event Server</a:t>
            </a:r>
            <a:r>
              <a:rPr lang="en-US" sz="4600" dirty="0" smtClean="0"/>
              <a:t> + </a:t>
            </a:r>
            <a:r>
              <a:rPr lang="en-US" dirty="0" smtClean="0"/>
              <a:t>Event Processor </a:t>
            </a:r>
            <a:r>
              <a:rPr lang="en-US" dirty="0" smtClean="0">
                <a:sym typeface="Wingdings" panose="05000000000000000000" pitchFamily="2" charset="2"/>
              </a:rPr>
              <a:t> Instance</a:t>
            </a:r>
            <a:endParaRPr lang="en-US" dirty="0"/>
          </a:p>
          <a:p>
            <a:pPr marL="0" indent="0">
              <a:buNone/>
            </a:pPr>
            <a:r>
              <a:rPr lang="en-US" dirty="0" smtClean="0"/>
              <a:t>Defined </a:t>
            </a:r>
            <a:r>
              <a:rPr lang="en-US" dirty="0"/>
              <a:t>by </a:t>
            </a:r>
            <a:r>
              <a:rPr lang="en-US" dirty="0" smtClean="0"/>
              <a:t>the following</a:t>
            </a:r>
            <a:r>
              <a:rPr lang="en-US" dirty="0"/>
              <a:t>:</a:t>
            </a:r>
          </a:p>
          <a:p>
            <a:pPr marL="0" indent="0">
              <a:buNone/>
            </a:pPr>
            <a:r>
              <a:rPr lang="en-US" dirty="0"/>
              <a:t>· An instance ID, an uppercase three-alphanumeric identifier defined by the </a:t>
            </a:r>
            <a:r>
              <a:rPr lang="en-US" dirty="0" smtClean="0"/>
              <a:t>AUTOSERV environment </a:t>
            </a:r>
            <a:r>
              <a:rPr lang="en-US" dirty="0"/>
              <a:t>variable. You set the instance </a:t>
            </a:r>
            <a:r>
              <a:rPr lang="en-US" dirty="0" smtClean="0"/>
              <a:t>ID  </a:t>
            </a:r>
            <a:r>
              <a:rPr lang="en-US" dirty="0"/>
              <a:t>during installation and cannot change it</a:t>
            </a:r>
            <a:r>
              <a:rPr lang="en-US" dirty="0" smtClean="0"/>
              <a:t>. </a:t>
            </a:r>
            <a:r>
              <a:rPr lang="en-US" dirty="0"/>
              <a:t>ex. PA4, </a:t>
            </a:r>
            <a:r>
              <a:rPr lang="en-US" dirty="0" smtClean="0"/>
              <a:t>PA5</a:t>
            </a:r>
          </a:p>
          <a:p>
            <a:pPr marL="0" indent="0">
              <a:buNone/>
            </a:pPr>
            <a:endParaRPr lang="en-US" dirty="0" smtClean="0"/>
          </a:p>
          <a:p>
            <a:pPr marL="0" indent="0">
              <a:buNone/>
            </a:pPr>
            <a:r>
              <a:rPr lang="en-US" dirty="0" smtClean="0"/>
              <a:t>Minimum configuration:-</a:t>
            </a:r>
            <a:endParaRPr lang="en-US" dirty="0"/>
          </a:p>
          <a:p>
            <a:pPr marL="0" indent="0">
              <a:buNone/>
            </a:pPr>
            <a:r>
              <a:rPr lang="en-US" dirty="0" smtClean="0"/>
              <a:t>· </a:t>
            </a:r>
            <a:r>
              <a:rPr lang="en-US" dirty="0"/>
              <a:t>At least one event server.</a:t>
            </a:r>
          </a:p>
          <a:p>
            <a:pPr marL="0" indent="0">
              <a:buNone/>
            </a:pPr>
            <a:r>
              <a:rPr lang="en-US" dirty="0"/>
              <a:t>· At least one event processor.</a:t>
            </a:r>
          </a:p>
        </p:txBody>
      </p:sp>
    </p:spTree>
    <p:extLst>
      <p:ext uri="{BB962C8B-B14F-4D97-AF65-F5344CB8AC3E}">
        <p14:creationId xmlns:p14="http://schemas.microsoft.com/office/powerpoint/2010/main" val="4169646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t>
            </a:r>
            <a:r>
              <a:rPr lang="en-US" dirty="0" err="1" smtClean="0"/>
              <a:t>Autosys</a:t>
            </a:r>
            <a:r>
              <a:rPr lang="en-US" dirty="0" smtClean="0"/>
              <a:t> Works?	</a:t>
            </a:r>
            <a:endParaRPr lang="en-US" dirty="0"/>
          </a:p>
        </p:txBody>
      </p:sp>
      <p:pic>
        <p:nvPicPr>
          <p:cNvPr id="4" name="Content Placeholder 5" descr="1.jpg"/>
          <p:cNvPicPr>
            <a:picLocks noGrp="1" noChangeAspect="1"/>
          </p:cNvPicPr>
          <p:nvPr>
            <p:ph idx="1"/>
          </p:nvPr>
        </p:nvPicPr>
        <p:blipFill>
          <a:blip r:embed="rId2"/>
          <a:stretch>
            <a:fillRect/>
          </a:stretch>
        </p:blipFill>
        <p:spPr>
          <a:xfrm>
            <a:off x="0" y="1295400"/>
            <a:ext cx="8608262" cy="502920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304800" y="304800"/>
            <a:ext cx="8382000" cy="6096000"/>
          </a:xfrm>
        </p:spPr>
        <p:txBody>
          <a:bodyPr>
            <a:normAutofit fontScale="85000" lnSpcReduction="10000"/>
          </a:bodyPr>
          <a:lstStyle/>
          <a:p>
            <a:pPr>
              <a:buNone/>
            </a:pPr>
            <a:r>
              <a:rPr lang="en-US" dirty="0" smtClean="0"/>
              <a:t>    • Step1: The Event Processor scans the Event Server for the next event to </a:t>
            </a:r>
            <a:r>
              <a:rPr lang="en-US" dirty="0" err="1" smtClean="0"/>
              <a:t>processor.If</a:t>
            </a:r>
            <a:r>
              <a:rPr lang="en-US" dirty="0" smtClean="0"/>
              <a:t> no event is </a:t>
            </a:r>
            <a:r>
              <a:rPr lang="en-US" dirty="0" err="1" smtClean="0"/>
              <a:t>ready,the</a:t>
            </a:r>
            <a:r>
              <a:rPr lang="en-US" dirty="0" smtClean="0"/>
              <a:t> Event Processor scans again in 5 seconds.</a:t>
            </a:r>
            <a:br>
              <a:rPr lang="en-US" dirty="0" smtClean="0"/>
            </a:br>
            <a:r>
              <a:rPr lang="en-US" dirty="0" smtClean="0"/>
              <a:t/>
            </a:r>
            <a:br>
              <a:rPr lang="en-US" dirty="0" smtClean="0"/>
            </a:br>
            <a:r>
              <a:rPr lang="en-US" dirty="0" smtClean="0"/>
              <a:t>• Step2: The Event Processor reads from the Event Server that an event is </a:t>
            </a:r>
            <a:r>
              <a:rPr lang="en-US" dirty="0" err="1" smtClean="0"/>
              <a:t>ready.The</a:t>
            </a:r>
            <a:r>
              <a:rPr lang="en-US" dirty="0" smtClean="0"/>
              <a:t> </a:t>
            </a:r>
            <a:r>
              <a:rPr lang="en-US" dirty="0" err="1" smtClean="0"/>
              <a:t>autosys</a:t>
            </a:r>
            <a:r>
              <a:rPr lang="en-US" dirty="0" smtClean="0"/>
              <a:t>-job definition and attributes are retrieved from the Event </a:t>
            </a:r>
            <a:r>
              <a:rPr lang="en-US" dirty="0" err="1" smtClean="0"/>
              <a:t>Server,including</a:t>
            </a:r>
            <a:r>
              <a:rPr lang="en-US" dirty="0" smtClean="0"/>
              <a:t> the command and the pointer to the profile file to be used for the schedule</a:t>
            </a:r>
            <a:br>
              <a:rPr lang="en-US" dirty="0" smtClean="0"/>
            </a:br>
            <a:r>
              <a:rPr lang="en-US" dirty="0" smtClean="0"/>
              <a:t/>
            </a:r>
            <a:br>
              <a:rPr lang="en-US" dirty="0" smtClean="0"/>
            </a:br>
            <a:r>
              <a:rPr lang="en-US" dirty="0" smtClean="0"/>
              <a:t>• Step3: The Event Processor processes the </a:t>
            </a:r>
            <a:r>
              <a:rPr lang="en-US" dirty="0" err="1" smtClean="0"/>
              <a:t>event.The</a:t>
            </a:r>
            <a:r>
              <a:rPr lang="en-US" dirty="0" smtClean="0"/>
              <a:t> Event Processor attempts to establish a connection with the Remote Agent on the client machine and passes the </a:t>
            </a:r>
            <a:r>
              <a:rPr lang="en-US" dirty="0" err="1" smtClean="0"/>
              <a:t>autosys</a:t>
            </a:r>
            <a:r>
              <a:rPr lang="en-US" dirty="0" smtClean="0"/>
              <a:t>-job </a:t>
            </a:r>
            <a:r>
              <a:rPr lang="en-US" dirty="0" err="1" smtClean="0"/>
              <a:t>ttributes</a:t>
            </a:r>
            <a:r>
              <a:rPr lang="en-US" dirty="0" smtClean="0"/>
              <a:t> to the client </a:t>
            </a:r>
            <a:r>
              <a:rPr lang="en-US" dirty="0" err="1" smtClean="0"/>
              <a:t>machne.The</a:t>
            </a:r>
            <a:r>
              <a:rPr lang="en-US" dirty="0" smtClean="0"/>
              <a:t> Event Processor sends a CHANGE_STATUS event marking in the Event Server that the </a:t>
            </a:r>
            <a:r>
              <a:rPr lang="en-US" dirty="0" err="1" smtClean="0"/>
              <a:t>autosys</a:t>
            </a:r>
            <a:r>
              <a:rPr lang="en-US" dirty="0" smtClean="0"/>
              <a:t>-jobs in STARTING state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6096000"/>
          </a:xfrm>
        </p:spPr>
        <p:txBody>
          <a:bodyPr>
            <a:normAutofit fontScale="85000" lnSpcReduction="20000"/>
          </a:bodyPr>
          <a:lstStyle/>
          <a:p>
            <a:pPr>
              <a:buNone/>
            </a:pPr>
            <a:r>
              <a:rPr lang="en-US" dirty="0" smtClean="0"/>
              <a:t>• Step4: The Remote Agent is invoked using the </a:t>
            </a:r>
            <a:r>
              <a:rPr lang="en-US" dirty="0" err="1" smtClean="0"/>
              <a:t>UserID</a:t>
            </a:r>
            <a:r>
              <a:rPr lang="en-US" dirty="0" smtClean="0"/>
              <a:t> and Password passed from the Event Processor.</a:t>
            </a:r>
            <a:br>
              <a:rPr lang="en-US" dirty="0" smtClean="0"/>
            </a:br>
            <a:r>
              <a:rPr lang="en-US" dirty="0" smtClean="0"/>
              <a:t/>
            </a:r>
            <a:br>
              <a:rPr lang="en-US" dirty="0" smtClean="0"/>
            </a:br>
            <a:r>
              <a:rPr lang="en-US" dirty="0" smtClean="0"/>
              <a:t>• Step5: The Remote Agent receives the </a:t>
            </a:r>
            <a:r>
              <a:rPr lang="en-US" dirty="0" err="1" smtClean="0"/>
              <a:t>autosys</a:t>
            </a:r>
            <a:r>
              <a:rPr lang="en-US" dirty="0" smtClean="0"/>
              <a:t>-job parameters and sends an acknowledgement to the Event Processor</a:t>
            </a:r>
            <a:br>
              <a:rPr lang="en-US" dirty="0" smtClean="0"/>
            </a:br>
            <a:r>
              <a:rPr lang="en-US" dirty="0" smtClean="0"/>
              <a:t/>
            </a:r>
            <a:br>
              <a:rPr lang="en-US" dirty="0" smtClean="0"/>
            </a:br>
            <a:r>
              <a:rPr lang="en-US" dirty="0" smtClean="0"/>
              <a:t>• Step6: The Remote Agent Starts a process and executes the command in the job definition.</a:t>
            </a:r>
            <a:br>
              <a:rPr lang="en-US" dirty="0" smtClean="0"/>
            </a:br>
            <a:r>
              <a:rPr lang="en-US" dirty="0" smtClean="0"/>
              <a:t/>
            </a:r>
            <a:br>
              <a:rPr lang="en-US" dirty="0" smtClean="0"/>
            </a:br>
            <a:r>
              <a:rPr lang="en-US" dirty="0" smtClean="0"/>
              <a:t>• Step7: The Remote Agent issues a CHANGE_STATUS event marking in the Event Server that the job is in RUNNING state</a:t>
            </a:r>
            <a:br>
              <a:rPr lang="en-US" dirty="0" smtClean="0"/>
            </a:br>
            <a:r>
              <a:rPr lang="en-US" dirty="0" smtClean="0"/>
              <a:t/>
            </a:r>
            <a:br>
              <a:rPr lang="en-US" dirty="0" smtClean="0"/>
            </a:br>
            <a:r>
              <a:rPr lang="en-US" dirty="0" smtClean="0"/>
              <a:t>• Step8: The client </a:t>
            </a:r>
            <a:r>
              <a:rPr lang="en-US" dirty="0" err="1" smtClean="0"/>
              <a:t>autosys</a:t>
            </a:r>
            <a:r>
              <a:rPr lang="en-US" dirty="0" smtClean="0"/>
              <a:t>-job process runs to </a:t>
            </a:r>
            <a:r>
              <a:rPr lang="en-US" dirty="0" err="1" smtClean="0"/>
              <a:t>completion,then</a:t>
            </a:r>
            <a:r>
              <a:rPr lang="en-US" dirty="0" smtClean="0"/>
              <a:t> returns an exit code to the Remote Agent and quits.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686800" cy="6126163"/>
          </a:xfrm>
        </p:spPr>
        <p:txBody>
          <a:bodyPr>
            <a:normAutofit/>
          </a:bodyPr>
          <a:lstStyle/>
          <a:p>
            <a:pPr>
              <a:buNone/>
            </a:pPr>
            <a:endParaRPr lang="en-US" sz="2800" dirty="0" smtClean="0"/>
          </a:p>
          <a:p>
            <a:pPr>
              <a:buNone/>
            </a:pPr>
            <a:endParaRPr lang="en-US" sz="2800" dirty="0" smtClean="0"/>
          </a:p>
          <a:p>
            <a:pPr>
              <a:buNone/>
            </a:pPr>
            <a:r>
              <a:rPr lang="en-US" sz="2800" dirty="0" smtClean="0"/>
              <a:t>• Step9: The Remote Agent sends the Event Server a CHANGE_STATUS event corresponding to the completion status of the </a:t>
            </a:r>
            <a:r>
              <a:rPr lang="en-US" sz="2800" dirty="0" err="1" smtClean="0"/>
              <a:t>autosys</a:t>
            </a:r>
            <a:r>
              <a:rPr lang="en-US" sz="2800" dirty="0" smtClean="0"/>
              <a:t>-job. The Remote Agent quits</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err="1" smtClean="0"/>
              <a:t>Autosys</a:t>
            </a:r>
            <a:r>
              <a:rPr lang="en-US" u="sng" dirty="0" smtClean="0"/>
              <a:t> GUI and CLI</a:t>
            </a:r>
            <a:endParaRPr lang="en-US" u="sng" dirty="0"/>
          </a:p>
        </p:txBody>
      </p:sp>
      <p:sp>
        <p:nvSpPr>
          <p:cNvPr id="4" name="Content Placeholder 3"/>
          <p:cNvSpPr>
            <a:spLocks noGrp="1"/>
          </p:cNvSpPr>
          <p:nvPr>
            <p:ph idx="1"/>
          </p:nvPr>
        </p:nvSpPr>
        <p:spPr>
          <a:xfrm>
            <a:off x="457200" y="1600201"/>
            <a:ext cx="3733800" cy="17525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buNone/>
            </a:pPr>
            <a:r>
              <a:rPr lang="en-US" dirty="0" err="1" smtClean="0"/>
              <a:t>Autosys</a:t>
            </a:r>
            <a:r>
              <a:rPr lang="en-US" dirty="0" smtClean="0"/>
              <a:t> Interfaces</a:t>
            </a:r>
            <a:endParaRPr lang="en-US" dirty="0"/>
          </a:p>
        </p:txBody>
      </p:sp>
      <p:sp>
        <p:nvSpPr>
          <p:cNvPr id="5" name="Oval 4"/>
          <p:cNvSpPr/>
          <p:nvPr/>
        </p:nvSpPr>
        <p:spPr>
          <a:xfrm>
            <a:off x="5562600" y="1905000"/>
            <a:ext cx="2438400" cy="1143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GUI</a:t>
            </a:r>
            <a:endParaRPr lang="en-US" sz="2400" dirty="0"/>
          </a:p>
        </p:txBody>
      </p:sp>
      <p:sp>
        <p:nvSpPr>
          <p:cNvPr id="6" name="Oval 5"/>
          <p:cNvSpPr/>
          <p:nvPr/>
        </p:nvSpPr>
        <p:spPr>
          <a:xfrm>
            <a:off x="4038600" y="4191000"/>
            <a:ext cx="2895600" cy="137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Command Line</a:t>
            </a:r>
            <a:endParaRPr lang="en-US" sz="2400" dirty="0"/>
          </a:p>
        </p:txBody>
      </p:sp>
      <p:cxnSp>
        <p:nvCxnSpPr>
          <p:cNvPr id="8" name="Straight Arrow Connector 7"/>
          <p:cNvCxnSpPr>
            <a:stCxn id="4" idx="6"/>
            <a:endCxn id="5" idx="2"/>
          </p:cNvCxnSpPr>
          <p:nvPr/>
        </p:nvCxnSpPr>
        <p:spPr>
          <a:xfrm flipV="1">
            <a:off x="4191000" y="2476500"/>
            <a:ext cx="1371600"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5"/>
            <a:endCxn id="6" idx="1"/>
          </p:cNvCxnSpPr>
          <p:nvPr/>
        </p:nvCxnSpPr>
        <p:spPr>
          <a:xfrm rot="16200000" flipH="1">
            <a:off x="3405560" y="3334775"/>
            <a:ext cx="1295728" cy="8184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458200" cy="5745163"/>
          </a:xfrm>
        </p:spPr>
        <p:txBody>
          <a:bodyPr/>
          <a:lstStyle/>
          <a:p>
            <a:pPr>
              <a:buNone/>
            </a:pPr>
            <a:r>
              <a:rPr lang="en-US" dirty="0" smtClean="0"/>
              <a:t>Creating </a:t>
            </a:r>
            <a:r>
              <a:rPr lang="en-US" dirty="0" err="1" smtClean="0"/>
              <a:t>Autosys</a:t>
            </a:r>
            <a:r>
              <a:rPr lang="en-US" dirty="0" smtClean="0"/>
              <a:t> Jobs(2 ways):-</a:t>
            </a:r>
          </a:p>
          <a:p>
            <a:r>
              <a:rPr lang="en-US" dirty="0" err="1" smtClean="0"/>
              <a:t>Autosys</a:t>
            </a:r>
            <a:r>
              <a:rPr lang="en-US" dirty="0" smtClean="0"/>
              <a:t> Graphical User Interface(GUI)</a:t>
            </a:r>
          </a:p>
          <a:p>
            <a:r>
              <a:rPr lang="en-US" dirty="0" err="1" smtClean="0"/>
              <a:t>Autosys</a:t>
            </a:r>
            <a:r>
              <a:rPr lang="en-US" dirty="0" smtClean="0"/>
              <a:t> Job Information Language via Command Line Interface(CLI)</a:t>
            </a:r>
          </a:p>
          <a:p>
            <a:pPr>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Writing </a:t>
            </a:r>
            <a:r>
              <a:rPr lang="en-US" dirty="0" err="1" smtClean="0"/>
              <a:t>Autosys</a:t>
            </a:r>
            <a:r>
              <a:rPr lang="en-US" dirty="0" smtClean="0"/>
              <a:t> Jobs- Using JIL</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sz="2800" dirty="0" smtClean="0"/>
              <a:t>JIL stands for Job Information Language. </a:t>
            </a:r>
          </a:p>
          <a:p>
            <a:pPr>
              <a:buNone/>
            </a:pPr>
            <a:r>
              <a:rPr lang="en-US" sz="2800" dirty="0" smtClean="0"/>
              <a:t>It instructs </a:t>
            </a:r>
            <a:r>
              <a:rPr lang="en-US" sz="2800" dirty="0" err="1" smtClean="0"/>
              <a:t>autosys</a:t>
            </a:r>
            <a:r>
              <a:rPr lang="en-US" sz="2800" dirty="0" smtClean="0"/>
              <a:t> to save job definitions in </a:t>
            </a:r>
            <a:r>
              <a:rPr lang="en-US" sz="2800" dirty="0" err="1" smtClean="0"/>
              <a:t>autosys</a:t>
            </a:r>
            <a:r>
              <a:rPr lang="en-US" sz="2800" dirty="0" smtClean="0"/>
              <a:t> database. </a:t>
            </a:r>
          </a:p>
          <a:p>
            <a:pPr>
              <a:buNone/>
            </a:pPr>
            <a:endParaRPr lang="en-US" sz="2800" dirty="0" smtClean="0"/>
          </a:p>
          <a:p>
            <a:pPr>
              <a:buNone/>
            </a:pPr>
            <a:r>
              <a:rPr lang="en-US" sz="2800" dirty="0" smtClean="0"/>
              <a:t>Essential attributes for defining job</a:t>
            </a:r>
            <a:br>
              <a:rPr lang="en-US" sz="2800" dirty="0" smtClean="0"/>
            </a:br>
            <a:r>
              <a:rPr lang="en-US" sz="2800" dirty="0" smtClean="0"/>
              <a:t>1. Job Name</a:t>
            </a:r>
            <a:br>
              <a:rPr lang="en-US" sz="2800" dirty="0" smtClean="0"/>
            </a:br>
            <a:r>
              <a:rPr lang="en-US" sz="2800" dirty="0" smtClean="0"/>
              <a:t>JIL Keyword : </a:t>
            </a:r>
            <a:r>
              <a:rPr lang="en-US" sz="2800" dirty="0" err="1" smtClean="0"/>
              <a:t>insert_job</a:t>
            </a:r>
            <a:r>
              <a:rPr lang="en-US" sz="2800" dirty="0" smtClean="0"/>
              <a:t>. Name used to identify the job.</a:t>
            </a:r>
          </a:p>
          <a:p>
            <a:pPr>
              <a:buNone/>
            </a:pPr>
            <a:r>
              <a:rPr lang="en-US" sz="2800" dirty="0" smtClean="0"/>
              <a:t/>
            </a:r>
            <a:br>
              <a:rPr lang="en-US" sz="2800" dirty="0" smtClean="0"/>
            </a:br>
            <a:r>
              <a:rPr lang="en-US" sz="2800" dirty="0" smtClean="0"/>
              <a:t>2. Job Type</a:t>
            </a:r>
            <a:br>
              <a:rPr lang="en-US" sz="2800" dirty="0" smtClean="0"/>
            </a:br>
            <a:r>
              <a:rPr lang="en-US" sz="2800" dirty="0" smtClean="0"/>
              <a:t>a. JIL Keyword : </a:t>
            </a:r>
            <a:r>
              <a:rPr lang="en-US" sz="2800" dirty="0" err="1" smtClean="0"/>
              <a:t>job_type</a:t>
            </a:r>
            <a:r>
              <a:rPr lang="en-US" sz="2800" dirty="0" smtClean="0"/>
              <a:t>. The job type is one of job types: command (c), file watcher (f) or box (b).</a:t>
            </a:r>
            <a:br>
              <a:rPr lang="en-US" sz="2800" dirty="0" smtClean="0"/>
            </a:br>
            <a:endParaRPr lang="en-US" sz="2800" dirty="0"/>
          </a:p>
        </p:txBody>
      </p:sp>
    </p:spTree>
    <p:extLst>
      <p:ext uri="{BB962C8B-B14F-4D97-AF65-F5344CB8AC3E}">
        <p14:creationId xmlns:p14="http://schemas.microsoft.com/office/powerpoint/2010/main" val="3550968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457200" y="533400"/>
            <a:ext cx="8534400" cy="6096000"/>
          </a:xfrm>
        </p:spPr>
        <p:txBody>
          <a:bodyPr>
            <a:normAutofit fontScale="92500" lnSpcReduction="20000"/>
          </a:bodyPr>
          <a:lstStyle/>
          <a:p>
            <a:pPr>
              <a:buNone/>
            </a:pPr>
            <a:r>
              <a:rPr lang="en-US" sz="2800" dirty="0" smtClean="0"/>
              <a:t>3. Owner</a:t>
            </a:r>
            <a:br>
              <a:rPr lang="en-US" sz="2800" dirty="0" smtClean="0"/>
            </a:br>
            <a:r>
              <a:rPr lang="en-US" sz="2800" dirty="0" smtClean="0"/>
              <a:t>a. JIL Keyword : owner (User /FID)</a:t>
            </a:r>
          </a:p>
          <a:p>
            <a:pPr>
              <a:buNone/>
            </a:pPr>
            <a:endParaRPr lang="en-US" sz="2800" dirty="0" smtClean="0"/>
          </a:p>
          <a:p>
            <a:pPr>
              <a:buNone/>
            </a:pPr>
            <a:r>
              <a:rPr lang="en-US" sz="2800" b="1" u="sng" dirty="0" err="1" smtClean="0"/>
              <a:t>Insert_job</a:t>
            </a:r>
            <a:r>
              <a:rPr lang="en-US" sz="2800" dirty="0" smtClean="0"/>
              <a:t>: this will let the </a:t>
            </a:r>
            <a:r>
              <a:rPr lang="en-US" sz="2800" dirty="0" err="1" smtClean="0"/>
              <a:t>autosys</a:t>
            </a:r>
            <a:r>
              <a:rPr lang="en-US" sz="2800" dirty="0" smtClean="0"/>
              <a:t> server to recognize the job and inserts into </a:t>
            </a:r>
            <a:r>
              <a:rPr lang="en-US" sz="2800" dirty="0" err="1" smtClean="0"/>
              <a:t>autosys</a:t>
            </a:r>
            <a:r>
              <a:rPr lang="en-US" sz="2800" dirty="0" smtClean="0"/>
              <a:t>  </a:t>
            </a:r>
            <a:br>
              <a:rPr lang="en-US" sz="2800" dirty="0" smtClean="0"/>
            </a:br>
            <a:r>
              <a:rPr lang="en-US" sz="2800" b="1" u="sng" dirty="0" err="1" smtClean="0"/>
              <a:t>box_name</a:t>
            </a:r>
            <a:r>
              <a:rPr lang="en-US" sz="2800" dirty="0" smtClean="0"/>
              <a:t>: this is the box job name: box job can have more than 1 child jobs. (this is just like grouping the jobs). </a:t>
            </a:r>
            <a:br>
              <a:rPr lang="en-US" sz="2800" dirty="0" smtClean="0"/>
            </a:br>
            <a:r>
              <a:rPr lang="en-US" sz="2800" b="1" u="sng" dirty="0" smtClean="0"/>
              <a:t>commands</a:t>
            </a:r>
            <a:r>
              <a:rPr lang="en-US" sz="2800" dirty="0" smtClean="0"/>
              <a:t>: this is where you tell </a:t>
            </a:r>
            <a:r>
              <a:rPr lang="en-US" sz="2800" dirty="0" err="1" smtClean="0"/>
              <a:t>autosys</a:t>
            </a:r>
            <a:r>
              <a:rPr lang="en-US" sz="2800" dirty="0" smtClean="0"/>
              <a:t>, what to do when the job runs. ( you’ll give reference to your scripts here). </a:t>
            </a:r>
            <a:br>
              <a:rPr lang="en-US" sz="2800" dirty="0" smtClean="0"/>
            </a:br>
            <a:r>
              <a:rPr lang="en-US" sz="2800" b="1" u="sng" dirty="0" smtClean="0"/>
              <a:t>machine</a:t>
            </a:r>
            <a:r>
              <a:rPr lang="en-US" sz="2800" dirty="0" smtClean="0"/>
              <a:t>: name of the machine where you want to run the job. </a:t>
            </a:r>
            <a:br>
              <a:rPr lang="en-US" sz="2800" dirty="0" smtClean="0"/>
            </a:br>
            <a:r>
              <a:rPr lang="en-US" sz="2800" b="1" u="sng" dirty="0" smtClean="0"/>
              <a:t>owner</a:t>
            </a:r>
            <a:r>
              <a:rPr lang="en-US" sz="2800" dirty="0" smtClean="0"/>
              <a:t>: owner of the job. </a:t>
            </a:r>
            <a:br>
              <a:rPr lang="en-US" sz="2800" dirty="0" smtClean="0"/>
            </a:br>
            <a:r>
              <a:rPr lang="en-US" sz="2800" dirty="0" smtClean="0"/>
              <a:t>permissions. </a:t>
            </a:r>
            <a:br>
              <a:rPr lang="en-US" sz="2800" dirty="0" smtClean="0"/>
            </a:br>
            <a:r>
              <a:rPr lang="en-US" sz="2800" b="1" u="sng" dirty="0" err="1" smtClean="0"/>
              <a:t>date_conditions</a:t>
            </a:r>
            <a:r>
              <a:rPr lang="en-US" sz="2800" dirty="0" smtClean="0"/>
              <a:t>: 1 if you have any specifications. </a:t>
            </a:r>
            <a:br>
              <a:rPr lang="en-US" sz="2800" dirty="0" smtClean="0"/>
            </a:br>
            <a:r>
              <a:rPr lang="en-US" sz="2800" b="1" u="sng" dirty="0" err="1" smtClean="0"/>
              <a:t>days_of_week</a:t>
            </a:r>
            <a:r>
              <a:rPr lang="en-US" sz="2800" dirty="0" smtClean="0"/>
              <a:t>: on which days of the week you want the job to run. </a:t>
            </a:r>
            <a:br>
              <a:rPr lang="en-US" sz="2800" dirty="0" smtClean="0"/>
            </a:br>
            <a:r>
              <a:rPr lang="en-US" sz="2800" b="1" u="sng" dirty="0" err="1" smtClean="0"/>
              <a:t>start_time</a:t>
            </a:r>
            <a:r>
              <a:rPr lang="en-US" sz="2800" dirty="0" smtClean="0"/>
              <a:t>: the time at which the job should kick-off. </a:t>
            </a:r>
            <a:br>
              <a:rPr lang="en-US" sz="2800" dirty="0" smtClean="0"/>
            </a:br>
            <a:endParaRPr lang="en-US" sz="2800" dirty="0"/>
          </a:p>
        </p:txBody>
      </p:sp>
    </p:spTree>
    <p:extLst>
      <p:ext uri="{BB962C8B-B14F-4D97-AF65-F5344CB8AC3E}">
        <p14:creationId xmlns:p14="http://schemas.microsoft.com/office/powerpoint/2010/main" val="1922129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381000" y="274637"/>
            <a:ext cx="8458200" cy="6126163"/>
          </a:xfrm>
        </p:spPr>
        <p:txBody>
          <a:bodyPr>
            <a:normAutofit fontScale="92500" lnSpcReduction="10000"/>
          </a:bodyPr>
          <a:lstStyle/>
          <a:p>
            <a:pPr>
              <a:buNone/>
            </a:pPr>
            <a:r>
              <a:rPr lang="en-US" b="1" u="sng" dirty="0" err="1" smtClean="0"/>
              <a:t>run_window</a:t>
            </a:r>
            <a:r>
              <a:rPr lang="en-US" dirty="0" smtClean="0"/>
              <a:t>: this option is for monitoring jobs. the job will run </a:t>
            </a:r>
            <a:r>
              <a:rPr lang="en-US" dirty="0" err="1" smtClean="0"/>
              <a:t>continously</a:t>
            </a:r>
            <a:r>
              <a:rPr lang="en-US" dirty="0" smtClean="0"/>
              <a:t> for the specified time window. </a:t>
            </a:r>
            <a:br>
              <a:rPr lang="en-US" dirty="0" smtClean="0"/>
            </a:br>
            <a:r>
              <a:rPr lang="en-US" b="1" u="sng" dirty="0" smtClean="0"/>
              <a:t>conditions</a:t>
            </a:r>
            <a:r>
              <a:rPr lang="en-US" dirty="0" smtClean="0"/>
              <a:t>: here you can specify the dependencies. like success of some other job. </a:t>
            </a:r>
            <a:br>
              <a:rPr lang="en-US" dirty="0" smtClean="0"/>
            </a:br>
            <a:r>
              <a:rPr lang="en-US" dirty="0" smtClean="0"/>
              <a:t>description. </a:t>
            </a:r>
            <a:br>
              <a:rPr lang="en-US" dirty="0" smtClean="0"/>
            </a:br>
            <a:r>
              <a:rPr lang="en-US" b="1" u="sng" dirty="0" err="1" smtClean="0"/>
              <a:t>n_retrys</a:t>
            </a:r>
            <a:r>
              <a:rPr lang="en-US" dirty="0" smtClean="0"/>
              <a:t>: no of </a:t>
            </a:r>
            <a:r>
              <a:rPr lang="en-US" dirty="0" err="1" smtClean="0"/>
              <a:t>retrys</a:t>
            </a:r>
            <a:r>
              <a:rPr lang="en-US" dirty="0" smtClean="0"/>
              <a:t> on a failure. </a:t>
            </a:r>
            <a:br>
              <a:rPr lang="en-US" dirty="0" smtClean="0"/>
            </a:br>
            <a:r>
              <a:rPr lang="en-US" b="1" u="sng" dirty="0" err="1" smtClean="0"/>
              <a:t>term_run_job</a:t>
            </a:r>
            <a:r>
              <a:rPr lang="en-US" dirty="0" smtClean="0"/>
              <a:t>: the job will terminate if it runs for specified time. </a:t>
            </a:r>
            <a:br>
              <a:rPr lang="en-US" dirty="0" smtClean="0"/>
            </a:br>
            <a:r>
              <a:rPr lang="en-US" b="1" u="sng" dirty="0" err="1" smtClean="0"/>
              <a:t>box_terminator</a:t>
            </a:r>
            <a:r>
              <a:rPr lang="en-US" dirty="0" smtClean="0"/>
              <a:t>: if 1, terminates box job depends on </a:t>
            </a:r>
            <a:r>
              <a:rPr lang="en-US" dirty="0" err="1" smtClean="0"/>
              <a:t>term_run_time</a:t>
            </a:r>
            <a:r>
              <a:rPr lang="en-US" dirty="0" smtClean="0"/>
              <a:t>. </a:t>
            </a:r>
            <a:br>
              <a:rPr lang="en-US" dirty="0" smtClean="0"/>
            </a:br>
            <a:r>
              <a:rPr lang="en-US" b="1" u="sng" dirty="0" err="1" smtClean="0"/>
              <a:t>job_terminator</a:t>
            </a:r>
            <a:r>
              <a:rPr lang="en-US" dirty="0" smtClean="0"/>
              <a:t>: if 1, terminates child job depends on </a:t>
            </a:r>
            <a:r>
              <a:rPr lang="en-US" dirty="0" err="1" smtClean="0"/>
              <a:t>term_run_time</a:t>
            </a:r>
            <a:r>
              <a:rPr lang="en-US" dirty="0" smtClean="0"/>
              <a:t>. </a:t>
            </a:r>
            <a:br>
              <a:rPr lang="en-US" dirty="0" smtClean="0"/>
            </a:br>
            <a:endParaRPr lang="en-US" dirty="0"/>
          </a:p>
        </p:txBody>
      </p:sp>
    </p:spTree>
    <p:extLst>
      <p:ext uri="{BB962C8B-B14F-4D97-AF65-F5344CB8AC3E}">
        <p14:creationId xmlns:p14="http://schemas.microsoft.com/office/powerpoint/2010/main" val="486216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305800" cy="5821363"/>
          </a:xfrm>
        </p:spPr>
        <p:txBody>
          <a:bodyPr>
            <a:normAutofit/>
          </a:bodyPr>
          <a:lstStyle/>
          <a:p>
            <a:pPr>
              <a:buNone/>
            </a:pPr>
            <a:r>
              <a:rPr lang="en-US" b="1" u="sng" dirty="0" err="1" smtClean="0"/>
              <a:t>std_out_file</a:t>
            </a:r>
            <a:r>
              <a:rPr lang="en-US" dirty="0" smtClean="0"/>
              <a:t>: standard output file (log) for the job </a:t>
            </a:r>
            <a:br>
              <a:rPr lang="en-US" dirty="0" smtClean="0"/>
            </a:br>
            <a:r>
              <a:rPr lang="en-US" b="1" u="sng" dirty="0" err="1" smtClean="0"/>
              <a:t>std_err_file</a:t>
            </a:r>
            <a:r>
              <a:rPr lang="en-US" dirty="0" smtClean="0"/>
              <a:t>: Error log file if the job fails </a:t>
            </a:r>
            <a:br>
              <a:rPr lang="en-US" dirty="0" smtClean="0"/>
            </a:br>
            <a:r>
              <a:rPr lang="en-US" b="1" u="sng" dirty="0" err="1" smtClean="0"/>
              <a:t>min_run_alarm</a:t>
            </a:r>
            <a:r>
              <a:rPr lang="en-US" dirty="0" smtClean="0"/>
              <a:t>: if the job terminates/completed within that time it generate an alarm </a:t>
            </a:r>
            <a:br>
              <a:rPr lang="en-US" dirty="0" smtClean="0"/>
            </a:br>
            <a:r>
              <a:rPr lang="en-US" b="1" u="sng" dirty="0" err="1" smtClean="0"/>
              <a:t>max_run_alarm</a:t>
            </a:r>
            <a:r>
              <a:rPr lang="en-US" dirty="0" smtClean="0"/>
              <a:t>: if the job runs for more than the specified time, it generate an alarm </a:t>
            </a:r>
            <a:br>
              <a:rPr lang="en-US" dirty="0" smtClean="0"/>
            </a:br>
            <a:r>
              <a:rPr lang="en-US" b="1" u="sng" dirty="0" err="1" smtClean="0"/>
              <a:t>alarm_if_fail</a:t>
            </a:r>
            <a:r>
              <a:rPr lang="en-US" dirty="0" smtClean="0"/>
              <a:t>: generates an alarm if the job fails</a:t>
            </a:r>
            <a:endParaRPr lang="en-US" dirty="0"/>
          </a:p>
        </p:txBody>
      </p:sp>
    </p:spTree>
    <p:extLst>
      <p:ext uri="{BB962C8B-B14F-4D97-AF65-F5344CB8AC3E}">
        <p14:creationId xmlns:p14="http://schemas.microsoft.com/office/powerpoint/2010/main" val="1493802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Job Types</a:t>
            </a:r>
            <a:endParaRPr lang="en-US" u="sng" dirty="0"/>
          </a:p>
        </p:txBody>
      </p:sp>
      <p:sp>
        <p:nvSpPr>
          <p:cNvPr id="3" name="Content Placeholder 2"/>
          <p:cNvSpPr>
            <a:spLocks noGrp="1"/>
          </p:cNvSpPr>
          <p:nvPr>
            <p:ph idx="1"/>
          </p:nvPr>
        </p:nvSpPr>
        <p:spPr/>
        <p:txBody>
          <a:bodyPr/>
          <a:lstStyle/>
          <a:p>
            <a:r>
              <a:rPr lang="en-US" sz="2800" dirty="0" smtClean="0"/>
              <a:t>File Watcher</a:t>
            </a:r>
          </a:p>
          <a:p>
            <a:r>
              <a:rPr lang="en-US" sz="2800" dirty="0" smtClean="0"/>
              <a:t>Command </a:t>
            </a:r>
          </a:p>
          <a:p>
            <a:r>
              <a:rPr lang="en-US" sz="2800" dirty="0" smtClean="0"/>
              <a:t>Box </a:t>
            </a:r>
          </a:p>
          <a:p>
            <a:pPr>
              <a:buNone/>
            </a:pPr>
            <a:endParaRPr lang="en-US" sz="2800" dirty="0" smtClean="0"/>
          </a:p>
          <a:p>
            <a:r>
              <a:rPr lang="en-US" sz="2800" u="sng" dirty="0" smtClean="0"/>
              <a:t>File Watcher</a:t>
            </a:r>
          </a:p>
          <a:p>
            <a:pPr>
              <a:buNone/>
            </a:pPr>
            <a:r>
              <a:rPr lang="en-US" sz="2800" dirty="0" smtClean="0"/>
              <a:t>  Monitors the arrival of the file(s)</a:t>
            </a:r>
            <a:endParaRPr lang="en-US" sz="2800" dirty="0"/>
          </a:p>
        </p:txBody>
      </p:sp>
    </p:spTree>
    <p:extLst>
      <p:ext uri="{BB962C8B-B14F-4D97-AF65-F5344CB8AC3E}">
        <p14:creationId xmlns:p14="http://schemas.microsoft.com/office/powerpoint/2010/main" val="1994927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228600" y="228600"/>
            <a:ext cx="8458200" cy="5897563"/>
          </a:xfrm>
        </p:spPr>
        <p:txBody>
          <a:bodyPr>
            <a:normAutofit fontScale="70000" lnSpcReduction="20000"/>
          </a:bodyPr>
          <a:lstStyle/>
          <a:p>
            <a:pPr>
              <a:buNone/>
            </a:pPr>
            <a:endParaRPr lang="en-US" dirty="0" smtClean="0"/>
          </a:p>
          <a:p>
            <a:pPr>
              <a:buNone/>
            </a:pPr>
            <a:r>
              <a:rPr lang="en-US" dirty="0" err="1" smtClean="0">
                <a:solidFill>
                  <a:srgbClr val="00B050"/>
                </a:solidFill>
              </a:rPr>
              <a:t>insert_job</a:t>
            </a:r>
            <a:r>
              <a:rPr lang="en-US" dirty="0" smtClean="0"/>
              <a:t>: </a:t>
            </a:r>
            <a:r>
              <a:rPr lang="en-US" dirty="0" err="1" smtClean="0"/>
              <a:t>JavaHonk_greeks_file_watch</a:t>
            </a:r>
            <a:r>
              <a:rPr lang="en-US" dirty="0" smtClean="0"/>
              <a:t>  </a:t>
            </a:r>
            <a:r>
              <a:rPr lang="en-US" dirty="0" smtClean="0">
                <a:solidFill>
                  <a:srgbClr val="92D050"/>
                </a:solidFill>
              </a:rPr>
              <a:t> </a:t>
            </a:r>
            <a:r>
              <a:rPr lang="en-US" dirty="0" err="1" smtClean="0">
                <a:solidFill>
                  <a:srgbClr val="92D050"/>
                </a:solidFill>
              </a:rPr>
              <a:t>job_type</a:t>
            </a:r>
            <a:r>
              <a:rPr lang="en-US" dirty="0" smtClean="0"/>
              <a:t>:</a:t>
            </a:r>
            <a:r>
              <a:rPr lang="en-US" dirty="0" smtClean="0">
                <a:solidFill>
                  <a:srgbClr val="0070C0"/>
                </a:solidFill>
              </a:rPr>
              <a:t> f</a:t>
            </a:r>
          </a:p>
          <a:p>
            <a:pPr>
              <a:buNone/>
            </a:pPr>
            <a:r>
              <a:rPr lang="en-US" dirty="0" err="1" smtClean="0">
                <a:solidFill>
                  <a:srgbClr val="00B050"/>
                </a:solidFill>
              </a:rPr>
              <a:t>box_name</a:t>
            </a:r>
            <a:r>
              <a:rPr lang="en-US" dirty="0" smtClean="0"/>
              <a:t>: </a:t>
            </a:r>
            <a:r>
              <a:rPr lang="en-US" dirty="0" err="1" smtClean="0"/>
              <a:t>JavaHonk_Greeks_Copy_box</a:t>
            </a:r>
            <a:endParaRPr lang="en-US" dirty="0" smtClean="0"/>
          </a:p>
          <a:p>
            <a:pPr>
              <a:buNone/>
            </a:pPr>
            <a:r>
              <a:rPr lang="en-US" dirty="0" smtClean="0">
                <a:solidFill>
                  <a:srgbClr val="00B050"/>
                </a:solidFill>
              </a:rPr>
              <a:t>machine: </a:t>
            </a:r>
            <a:r>
              <a:rPr lang="en-US" dirty="0" smtClean="0"/>
              <a:t>JavaHonk.test.com</a:t>
            </a:r>
          </a:p>
          <a:p>
            <a:pPr>
              <a:buNone/>
            </a:pPr>
            <a:r>
              <a:rPr lang="en-US" dirty="0" smtClean="0">
                <a:solidFill>
                  <a:srgbClr val="00B050"/>
                </a:solidFill>
              </a:rPr>
              <a:t>owner:</a:t>
            </a:r>
            <a:r>
              <a:rPr lang="en-US" dirty="0" smtClean="0"/>
              <a:t> </a:t>
            </a:r>
            <a:r>
              <a:rPr lang="en-US" dirty="0" err="1" smtClean="0"/>
              <a:t>JavaHonk</a:t>
            </a:r>
            <a:endParaRPr lang="en-US" dirty="0" smtClean="0"/>
          </a:p>
          <a:p>
            <a:pPr>
              <a:buNone/>
            </a:pPr>
            <a:r>
              <a:rPr lang="en-US" dirty="0" smtClean="0">
                <a:solidFill>
                  <a:srgbClr val="00B050"/>
                </a:solidFill>
              </a:rPr>
              <a:t>permission</a:t>
            </a:r>
            <a:r>
              <a:rPr lang="en-US" dirty="0" smtClean="0"/>
              <a:t>: </a:t>
            </a:r>
            <a:r>
              <a:rPr lang="en-US" dirty="0" err="1" smtClean="0"/>
              <a:t>gx,ge</a:t>
            </a:r>
            <a:endParaRPr lang="en-US" dirty="0" smtClean="0"/>
          </a:p>
          <a:p>
            <a:pPr>
              <a:buNone/>
            </a:pPr>
            <a:r>
              <a:rPr lang="en-US" dirty="0" err="1" smtClean="0">
                <a:solidFill>
                  <a:srgbClr val="00B050"/>
                </a:solidFill>
              </a:rPr>
              <a:t>date_conditions</a:t>
            </a:r>
            <a:r>
              <a:rPr lang="en-US" dirty="0" smtClean="0"/>
              <a:t>: 1</a:t>
            </a:r>
          </a:p>
          <a:p>
            <a:pPr>
              <a:buNone/>
            </a:pPr>
            <a:r>
              <a:rPr lang="en-US" dirty="0" err="1" smtClean="0">
                <a:solidFill>
                  <a:srgbClr val="00B050"/>
                </a:solidFill>
              </a:rPr>
              <a:t>days_of_week</a:t>
            </a:r>
            <a:r>
              <a:rPr lang="en-US" dirty="0" smtClean="0">
                <a:solidFill>
                  <a:srgbClr val="00B050"/>
                </a:solidFill>
              </a:rPr>
              <a:t>: </a:t>
            </a:r>
            <a:r>
              <a:rPr lang="en-US" dirty="0" err="1" smtClean="0"/>
              <a:t>mo,tu,we,th,fr</a:t>
            </a:r>
            <a:endParaRPr lang="en-US" dirty="0" smtClean="0"/>
          </a:p>
          <a:p>
            <a:pPr>
              <a:buNone/>
            </a:pPr>
            <a:r>
              <a:rPr lang="en-US" dirty="0" err="1" smtClean="0">
                <a:solidFill>
                  <a:srgbClr val="00B050"/>
                </a:solidFill>
              </a:rPr>
              <a:t>exclude_calendar</a:t>
            </a:r>
            <a:r>
              <a:rPr lang="en-US" dirty="0" smtClean="0">
                <a:solidFill>
                  <a:srgbClr val="00B050"/>
                </a:solidFill>
              </a:rPr>
              <a:t>:</a:t>
            </a:r>
            <a:r>
              <a:rPr lang="en-US" dirty="0" smtClean="0"/>
              <a:t> CORP_CHRISTMAS_NEWYRS_ONLY</a:t>
            </a:r>
          </a:p>
          <a:p>
            <a:pPr>
              <a:buNone/>
            </a:pPr>
            <a:r>
              <a:rPr lang="en-US" dirty="0" err="1" smtClean="0">
                <a:solidFill>
                  <a:srgbClr val="00B050"/>
                </a:solidFill>
              </a:rPr>
              <a:t>start_times</a:t>
            </a:r>
            <a:r>
              <a:rPr lang="en-US" dirty="0" smtClean="0">
                <a:solidFill>
                  <a:srgbClr val="00B050"/>
                </a:solidFill>
              </a:rPr>
              <a:t>: </a:t>
            </a:r>
            <a:r>
              <a:rPr lang="en-US" dirty="0" smtClean="0"/>
              <a:t>"20:35"</a:t>
            </a:r>
          </a:p>
          <a:p>
            <a:pPr>
              <a:buNone/>
            </a:pPr>
            <a:r>
              <a:rPr lang="en-US" dirty="0" smtClean="0">
                <a:solidFill>
                  <a:srgbClr val="00B050"/>
                </a:solidFill>
              </a:rPr>
              <a:t>condition:</a:t>
            </a:r>
            <a:r>
              <a:rPr lang="en-US" dirty="0" smtClean="0"/>
              <a:t> s(</a:t>
            </a:r>
            <a:r>
              <a:rPr lang="en-US" dirty="0" err="1" smtClean="0"/>
              <a:t>JavaHonk_IMG_CurrentDate_c</a:t>
            </a:r>
            <a:r>
              <a:rPr lang="en-US" dirty="0" smtClean="0"/>
              <a:t>)</a:t>
            </a:r>
          </a:p>
          <a:p>
            <a:pPr>
              <a:buNone/>
            </a:pPr>
            <a:r>
              <a:rPr lang="en-US" dirty="0" smtClean="0">
                <a:solidFill>
                  <a:srgbClr val="00B050"/>
                </a:solidFill>
              </a:rPr>
              <a:t>description:</a:t>
            </a:r>
            <a:r>
              <a:rPr lang="en-US" dirty="0" smtClean="0"/>
              <a:t> "</a:t>
            </a:r>
            <a:r>
              <a:rPr lang="en-US" dirty="0" err="1" smtClean="0"/>
              <a:t>JavaHonk</a:t>
            </a:r>
            <a:r>
              <a:rPr lang="en-US" dirty="0" smtClean="0"/>
              <a:t>~ Wait for the galaxy </a:t>
            </a:r>
            <a:r>
              <a:rPr lang="en-US" dirty="0" err="1" smtClean="0"/>
              <a:t>greeks</a:t>
            </a:r>
            <a:r>
              <a:rPr lang="en-US" dirty="0" smtClean="0"/>
              <a:t> file in </a:t>
            </a:r>
            <a:r>
              <a:rPr lang="en-US" dirty="0" err="1" smtClean="0"/>
              <a:t>uat</a:t>
            </a:r>
            <a:r>
              <a:rPr lang="en-US" dirty="0" smtClean="0"/>
              <a:t> </a:t>
            </a:r>
            <a:r>
              <a:rPr lang="en-US" dirty="0" err="1" smtClean="0"/>
              <a:t>nas</a:t>
            </a:r>
            <a:r>
              <a:rPr lang="en-US" dirty="0" smtClean="0"/>
              <a:t> location"</a:t>
            </a:r>
          </a:p>
          <a:p>
            <a:pPr>
              <a:buNone/>
            </a:pPr>
            <a:r>
              <a:rPr lang="en-US" dirty="0" err="1" smtClean="0">
                <a:solidFill>
                  <a:srgbClr val="00B050"/>
                </a:solidFill>
              </a:rPr>
              <a:t>watch_file</a:t>
            </a:r>
            <a:r>
              <a:rPr lang="en-US" dirty="0" smtClean="0">
                <a:solidFill>
                  <a:srgbClr val="00B050"/>
                </a:solidFill>
              </a:rPr>
              <a:t>: </a:t>
            </a:r>
            <a:r>
              <a:rPr lang="en-US" dirty="0" smtClean="0">
                <a:solidFill>
                  <a:srgbClr val="0070C0"/>
                </a:solidFill>
              </a:rPr>
              <a:t>/</a:t>
            </a:r>
            <a:r>
              <a:rPr lang="en-US" dirty="0" err="1" smtClean="0">
                <a:solidFill>
                  <a:srgbClr val="0070C0"/>
                </a:solidFill>
              </a:rPr>
              <a:t>nas</a:t>
            </a:r>
            <a:r>
              <a:rPr lang="en-US" dirty="0" smtClean="0">
                <a:solidFill>
                  <a:srgbClr val="0070C0"/>
                </a:solidFill>
              </a:rPr>
              <a:t>/</a:t>
            </a:r>
            <a:r>
              <a:rPr lang="en-US" dirty="0" err="1" smtClean="0">
                <a:solidFill>
                  <a:srgbClr val="0070C0"/>
                </a:solidFill>
              </a:rPr>
              <a:t>JavaHonk</a:t>
            </a:r>
            <a:r>
              <a:rPr lang="en-US" dirty="0" smtClean="0">
                <a:solidFill>
                  <a:srgbClr val="0070C0"/>
                </a:solidFill>
              </a:rPr>
              <a:t>/</a:t>
            </a:r>
            <a:r>
              <a:rPr lang="en-US" dirty="0" err="1" smtClean="0">
                <a:solidFill>
                  <a:srgbClr val="0070C0"/>
                </a:solidFill>
              </a:rPr>
              <a:t>datafiles</a:t>
            </a:r>
            <a:r>
              <a:rPr lang="en-US" dirty="0" smtClean="0">
                <a:solidFill>
                  <a:srgbClr val="0070C0"/>
                </a:solidFill>
              </a:rPr>
              <a:t>/</a:t>
            </a:r>
            <a:r>
              <a:rPr lang="en-US" dirty="0" err="1" smtClean="0">
                <a:solidFill>
                  <a:srgbClr val="0070C0"/>
                </a:solidFill>
              </a:rPr>
              <a:t>galaxygreeks</a:t>
            </a:r>
            <a:r>
              <a:rPr lang="en-US" dirty="0" smtClean="0">
                <a:solidFill>
                  <a:srgbClr val="0070C0"/>
                </a:solidFill>
              </a:rPr>
              <a:t>.$${</a:t>
            </a:r>
            <a:r>
              <a:rPr lang="en-US" dirty="0" err="1" smtClean="0">
                <a:solidFill>
                  <a:srgbClr val="0070C0"/>
                </a:solidFill>
              </a:rPr>
              <a:t>JavaHonk_JavaHonk_CURRENT_DATE</a:t>
            </a:r>
            <a:r>
              <a:rPr lang="en-US" dirty="0" smtClean="0">
                <a:solidFill>
                  <a:srgbClr val="0070C0"/>
                </a:solidFill>
              </a:rPr>
              <a:t>}.</a:t>
            </a:r>
            <a:r>
              <a:rPr lang="en-US" dirty="0" err="1" smtClean="0">
                <a:solidFill>
                  <a:srgbClr val="0070C0"/>
                </a:solidFill>
              </a:rPr>
              <a:t>csv</a:t>
            </a:r>
            <a:endParaRPr lang="en-US" dirty="0" smtClean="0">
              <a:solidFill>
                <a:srgbClr val="0070C0"/>
              </a:solidFill>
            </a:endParaRPr>
          </a:p>
          <a:p>
            <a:pPr>
              <a:buNone/>
            </a:pPr>
            <a:r>
              <a:rPr lang="en-US" dirty="0" err="1" smtClean="0">
                <a:solidFill>
                  <a:srgbClr val="00B050"/>
                </a:solidFill>
              </a:rPr>
              <a:t>watch_interval</a:t>
            </a:r>
            <a:r>
              <a:rPr lang="en-US" dirty="0" smtClean="0"/>
              <a:t>: 60</a:t>
            </a:r>
          </a:p>
          <a:p>
            <a:pPr>
              <a:buNone/>
            </a:pPr>
            <a:r>
              <a:rPr lang="en-US" dirty="0" err="1" smtClean="0">
                <a:solidFill>
                  <a:srgbClr val="00B050"/>
                </a:solidFill>
              </a:rPr>
              <a:t>alarm_if_fail</a:t>
            </a:r>
            <a:r>
              <a:rPr lang="en-US" dirty="0" smtClean="0">
                <a:solidFill>
                  <a:srgbClr val="00B050"/>
                </a:solidFill>
              </a:rPr>
              <a:t>:</a:t>
            </a:r>
            <a:r>
              <a:rPr lang="en-US" dirty="0" smtClean="0"/>
              <a:t> 1</a:t>
            </a:r>
          </a:p>
          <a:p>
            <a:pPr>
              <a:buNone/>
            </a:pPr>
            <a:endParaRPr lang="en-US" dirty="0"/>
          </a:p>
        </p:txBody>
      </p:sp>
    </p:spTree>
    <p:extLst>
      <p:ext uri="{BB962C8B-B14F-4D97-AF65-F5344CB8AC3E}">
        <p14:creationId xmlns:p14="http://schemas.microsoft.com/office/powerpoint/2010/main" val="3894584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5897563"/>
          </a:xfrm>
          <a:ln>
            <a:solidFill>
              <a:srgbClr val="FFFF00"/>
            </a:solidFill>
          </a:ln>
        </p:spPr>
        <p:txBody>
          <a:bodyPr>
            <a:noAutofit/>
          </a:bodyPr>
          <a:lstStyle/>
          <a:p>
            <a:r>
              <a:rPr lang="en-US" sz="2400" dirty="0" smtClean="0"/>
              <a:t>Command</a:t>
            </a:r>
          </a:p>
          <a:p>
            <a:pPr>
              <a:buNone/>
            </a:pPr>
            <a:r>
              <a:rPr lang="en-US" sz="2400" dirty="0" err="1" smtClean="0">
                <a:solidFill>
                  <a:srgbClr val="00B050"/>
                </a:solidFill>
              </a:rPr>
              <a:t>insert_job</a:t>
            </a:r>
            <a:r>
              <a:rPr lang="en-US" sz="2400" dirty="0" smtClean="0"/>
              <a:t>: </a:t>
            </a:r>
            <a:r>
              <a:rPr lang="en-US" sz="2400" dirty="0" err="1" smtClean="0"/>
              <a:t>JavaHonk_greeks_local_copy</a:t>
            </a:r>
            <a:r>
              <a:rPr lang="en-US" sz="2400" dirty="0" smtClean="0"/>
              <a:t>  </a:t>
            </a:r>
            <a:r>
              <a:rPr lang="en-US" sz="2400" dirty="0" smtClean="0">
                <a:solidFill>
                  <a:srgbClr val="00B050"/>
                </a:solidFill>
              </a:rPr>
              <a:t> </a:t>
            </a:r>
            <a:r>
              <a:rPr lang="en-US" sz="2400" dirty="0" err="1" smtClean="0">
                <a:solidFill>
                  <a:srgbClr val="00B050"/>
                </a:solidFill>
              </a:rPr>
              <a:t>job_type</a:t>
            </a:r>
            <a:r>
              <a:rPr lang="en-US" sz="2400" b="1" dirty="0" smtClean="0"/>
              <a:t>:</a:t>
            </a:r>
            <a:r>
              <a:rPr lang="en-US" sz="2400" b="1" dirty="0" smtClean="0">
                <a:solidFill>
                  <a:srgbClr val="0070C0"/>
                </a:solidFill>
              </a:rPr>
              <a:t> c</a:t>
            </a:r>
          </a:p>
          <a:p>
            <a:pPr>
              <a:buNone/>
            </a:pPr>
            <a:r>
              <a:rPr lang="en-US" sz="2400" dirty="0" err="1" smtClean="0">
                <a:solidFill>
                  <a:srgbClr val="00B050"/>
                </a:solidFill>
              </a:rPr>
              <a:t>box_name</a:t>
            </a:r>
            <a:r>
              <a:rPr lang="en-US" sz="2400" dirty="0" smtClean="0"/>
              <a:t>: </a:t>
            </a:r>
            <a:r>
              <a:rPr lang="en-US" sz="2400" dirty="0" err="1" smtClean="0"/>
              <a:t>JavaHonk_Greeks_Copy_box</a:t>
            </a:r>
            <a:endParaRPr lang="en-US" sz="2400" dirty="0" smtClean="0"/>
          </a:p>
          <a:p>
            <a:pPr>
              <a:buNone/>
            </a:pPr>
            <a:r>
              <a:rPr lang="en-US" sz="2400" dirty="0" smtClean="0">
                <a:solidFill>
                  <a:srgbClr val="00B050"/>
                </a:solidFill>
              </a:rPr>
              <a:t>command:</a:t>
            </a:r>
            <a:r>
              <a:rPr lang="en-US" sz="2400" dirty="0" smtClean="0"/>
              <a:t> </a:t>
            </a:r>
            <a:r>
              <a:rPr lang="en-US" sz="2400" dirty="0" smtClean="0">
                <a:solidFill>
                  <a:srgbClr val="0070C0"/>
                </a:solidFill>
              </a:rPr>
              <a:t>cp /</a:t>
            </a:r>
            <a:r>
              <a:rPr lang="en-US" sz="2400" dirty="0" err="1" smtClean="0">
                <a:solidFill>
                  <a:srgbClr val="0070C0"/>
                </a:solidFill>
              </a:rPr>
              <a:t>nas</a:t>
            </a:r>
            <a:r>
              <a:rPr lang="en-US" sz="2400" dirty="0" smtClean="0">
                <a:solidFill>
                  <a:srgbClr val="0070C0"/>
                </a:solidFill>
              </a:rPr>
              <a:t>/</a:t>
            </a:r>
            <a:r>
              <a:rPr lang="en-US" sz="2400" dirty="0" err="1" smtClean="0">
                <a:solidFill>
                  <a:srgbClr val="0070C0"/>
                </a:solidFill>
              </a:rPr>
              <a:t>JavaHonk</a:t>
            </a:r>
            <a:r>
              <a:rPr lang="en-US" sz="2400" dirty="0" smtClean="0">
                <a:solidFill>
                  <a:srgbClr val="0070C0"/>
                </a:solidFill>
              </a:rPr>
              <a:t>/</a:t>
            </a:r>
            <a:r>
              <a:rPr lang="en-US" sz="2400" dirty="0" err="1" smtClean="0">
                <a:solidFill>
                  <a:srgbClr val="0070C0"/>
                </a:solidFill>
              </a:rPr>
              <a:t>datafiles</a:t>
            </a:r>
            <a:r>
              <a:rPr lang="en-US" sz="2400" dirty="0" smtClean="0">
                <a:solidFill>
                  <a:srgbClr val="0070C0"/>
                </a:solidFill>
              </a:rPr>
              <a:t>/</a:t>
            </a:r>
            <a:r>
              <a:rPr lang="en-US" sz="2400" dirty="0" err="1" smtClean="0">
                <a:solidFill>
                  <a:srgbClr val="0070C0"/>
                </a:solidFill>
              </a:rPr>
              <a:t>galaxygreeks</a:t>
            </a:r>
            <a:r>
              <a:rPr lang="en-US" sz="2400" dirty="0" smtClean="0">
                <a:solidFill>
                  <a:srgbClr val="0070C0"/>
                </a:solidFill>
              </a:rPr>
              <a:t>.$${</a:t>
            </a:r>
            <a:r>
              <a:rPr lang="en-US" sz="2400" dirty="0" err="1" smtClean="0">
                <a:solidFill>
                  <a:srgbClr val="0070C0"/>
                </a:solidFill>
              </a:rPr>
              <a:t>JavaHonk_JavaHonk_CURRENT_DATE</a:t>
            </a:r>
            <a:r>
              <a:rPr lang="en-US" sz="2400" dirty="0" smtClean="0">
                <a:solidFill>
                  <a:srgbClr val="0070C0"/>
                </a:solidFill>
              </a:rPr>
              <a:t>}.</a:t>
            </a:r>
            <a:r>
              <a:rPr lang="en-US" sz="2400" dirty="0" err="1" smtClean="0">
                <a:solidFill>
                  <a:srgbClr val="0070C0"/>
                </a:solidFill>
              </a:rPr>
              <a:t>csv</a:t>
            </a:r>
            <a:r>
              <a:rPr lang="en-US" sz="2400" dirty="0" smtClean="0">
                <a:solidFill>
                  <a:srgbClr val="0070C0"/>
                </a:solidFill>
              </a:rPr>
              <a:t> /apps/</a:t>
            </a:r>
            <a:r>
              <a:rPr lang="en-US" sz="2400" dirty="0" err="1" smtClean="0">
                <a:solidFill>
                  <a:srgbClr val="0070C0"/>
                </a:solidFill>
              </a:rPr>
              <a:t>JavaHonk</a:t>
            </a:r>
            <a:r>
              <a:rPr lang="en-US" sz="2400" dirty="0" smtClean="0">
                <a:solidFill>
                  <a:srgbClr val="0070C0"/>
                </a:solidFill>
              </a:rPr>
              <a:t>/</a:t>
            </a:r>
            <a:r>
              <a:rPr lang="en-US" sz="2400" dirty="0" err="1" smtClean="0">
                <a:solidFill>
                  <a:srgbClr val="0070C0"/>
                </a:solidFill>
              </a:rPr>
              <a:t>uat</a:t>
            </a:r>
            <a:r>
              <a:rPr lang="en-US" sz="2400" dirty="0" smtClean="0">
                <a:solidFill>
                  <a:srgbClr val="0070C0"/>
                </a:solidFill>
              </a:rPr>
              <a:t>/</a:t>
            </a:r>
            <a:r>
              <a:rPr lang="en-US" sz="2400" dirty="0" err="1" smtClean="0">
                <a:solidFill>
                  <a:srgbClr val="0070C0"/>
                </a:solidFill>
              </a:rPr>
              <a:t>datafiles</a:t>
            </a:r>
            <a:r>
              <a:rPr lang="en-US" sz="2400" dirty="0" smtClean="0">
                <a:solidFill>
                  <a:srgbClr val="0070C0"/>
                </a:solidFill>
              </a:rPr>
              <a:t>/</a:t>
            </a:r>
          </a:p>
          <a:p>
            <a:pPr>
              <a:buNone/>
            </a:pPr>
            <a:r>
              <a:rPr lang="en-US" sz="2400" dirty="0" smtClean="0">
                <a:solidFill>
                  <a:srgbClr val="00B050"/>
                </a:solidFill>
              </a:rPr>
              <a:t>machine: </a:t>
            </a:r>
            <a:r>
              <a:rPr lang="en-US" sz="2400" dirty="0" smtClean="0"/>
              <a:t>JavaHonk.test.com</a:t>
            </a:r>
          </a:p>
          <a:p>
            <a:pPr>
              <a:buNone/>
            </a:pPr>
            <a:r>
              <a:rPr lang="en-US" sz="2400" dirty="0" smtClean="0">
                <a:solidFill>
                  <a:srgbClr val="00B050"/>
                </a:solidFill>
              </a:rPr>
              <a:t>owner:</a:t>
            </a:r>
            <a:r>
              <a:rPr lang="en-US" sz="2400" dirty="0" smtClean="0"/>
              <a:t> </a:t>
            </a:r>
            <a:r>
              <a:rPr lang="en-US" sz="2400" dirty="0" err="1" smtClean="0"/>
              <a:t>JavaHonk</a:t>
            </a:r>
            <a:endParaRPr lang="en-US" sz="2400" dirty="0" smtClean="0"/>
          </a:p>
          <a:p>
            <a:pPr>
              <a:buNone/>
            </a:pPr>
            <a:r>
              <a:rPr lang="en-US" sz="2400" dirty="0" smtClean="0">
                <a:solidFill>
                  <a:srgbClr val="00B050"/>
                </a:solidFill>
              </a:rPr>
              <a:t>permission</a:t>
            </a:r>
            <a:r>
              <a:rPr lang="en-US" sz="2400" dirty="0" smtClean="0"/>
              <a:t>: </a:t>
            </a:r>
            <a:r>
              <a:rPr lang="en-US" sz="2400" dirty="0" err="1" smtClean="0"/>
              <a:t>gx,ge</a:t>
            </a:r>
            <a:endParaRPr lang="en-US" sz="2400" dirty="0" smtClean="0"/>
          </a:p>
          <a:p>
            <a:pPr>
              <a:buNone/>
            </a:pPr>
            <a:r>
              <a:rPr lang="en-US" sz="2400" dirty="0" err="1" smtClean="0">
                <a:solidFill>
                  <a:srgbClr val="00B050"/>
                </a:solidFill>
              </a:rPr>
              <a:t>date_conditions</a:t>
            </a:r>
            <a:r>
              <a:rPr lang="en-US" sz="2400" dirty="0" smtClean="0">
                <a:solidFill>
                  <a:srgbClr val="00B050"/>
                </a:solidFill>
              </a:rPr>
              <a:t>:</a:t>
            </a:r>
            <a:r>
              <a:rPr lang="en-US" sz="2400" dirty="0" smtClean="0"/>
              <a:t> 1</a:t>
            </a:r>
          </a:p>
          <a:p>
            <a:pPr>
              <a:buNone/>
            </a:pPr>
            <a:r>
              <a:rPr lang="en-US" sz="2400" dirty="0" err="1" smtClean="0">
                <a:solidFill>
                  <a:srgbClr val="00B050"/>
                </a:solidFill>
              </a:rPr>
              <a:t>days_of_week</a:t>
            </a:r>
            <a:r>
              <a:rPr lang="en-US" sz="2400" dirty="0" smtClean="0"/>
              <a:t>: </a:t>
            </a:r>
            <a:r>
              <a:rPr lang="en-US" sz="2400" dirty="0" err="1" smtClean="0"/>
              <a:t>mo,tu,we,th,fr</a:t>
            </a:r>
            <a:endParaRPr lang="en-US" sz="2400" dirty="0" smtClean="0"/>
          </a:p>
          <a:p>
            <a:pPr>
              <a:buNone/>
            </a:pPr>
            <a:r>
              <a:rPr lang="en-US" sz="2400" dirty="0" err="1" smtClean="0">
                <a:solidFill>
                  <a:srgbClr val="00B050"/>
                </a:solidFill>
              </a:rPr>
              <a:t>exclude_calendar</a:t>
            </a:r>
            <a:r>
              <a:rPr lang="en-US" sz="2400" dirty="0" smtClean="0"/>
              <a:t>: CORP_CHRISTMAS_NEWYRS_ONLY</a:t>
            </a:r>
          </a:p>
          <a:p>
            <a:pPr>
              <a:buNone/>
            </a:pPr>
            <a:r>
              <a:rPr lang="en-US" sz="2400" dirty="0" err="1" smtClean="0">
                <a:solidFill>
                  <a:srgbClr val="00B050"/>
                </a:solidFill>
              </a:rPr>
              <a:t>start_times</a:t>
            </a:r>
            <a:r>
              <a:rPr lang="en-US" sz="2400" dirty="0" smtClean="0">
                <a:solidFill>
                  <a:srgbClr val="00B050"/>
                </a:solidFill>
              </a:rPr>
              <a:t>:</a:t>
            </a:r>
            <a:r>
              <a:rPr lang="en-US" sz="2400" dirty="0" smtClean="0"/>
              <a:t> "20:37"</a:t>
            </a:r>
          </a:p>
          <a:p>
            <a:pPr>
              <a:buNone/>
            </a:pPr>
            <a:endParaRPr lang="en-US" sz="2400" dirty="0"/>
          </a:p>
        </p:txBody>
      </p:sp>
    </p:spTree>
    <p:extLst>
      <p:ext uri="{BB962C8B-B14F-4D97-AF65-F5344CB8AC3E}">
        <p14:creationId xmlns:p14="http://schemas.microsoft.com/office/powerpoint/2010/main" val="466146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US" sz="2400" dirty="0" smtClean="0">
                <a:solidFill>
                  <a:srgbClr val="00B050"/>
                </a:solidFill>
              </a:rPr>
              <a:t>condition</a:t>
            </a:r>
            <a:r>
              <a:rPr lang="en-US" sz="2400" dirty="0" smtClean="0"/>
              <a:t>: </a:t>
            </a:r>
            <a:r>
              <a:rPr lang="en-US" sz="2400" dirty="0" smtClean="0">
                <a:solidFill>
                  <a:srgbClr val="0070C0"/>
                </a:solidFill>
              </a:rPr>
              <a:t>s(</a:t>
            </a:r>
            <a:r>
              <a:rPr lang="en-US" sz="2400" dirty="0" err="1" smtClean="0">
                <a:solidFill>
                  <a:srgbClr val="0070C0"/>
                </a:solidFill>
              </a:rPr>
              <a:t>JavaHonk_greeks_file_watch</a:t>
            </a:r>
            <a:r>
              <a:rPr lang="en-US" sz="2400" dirty="0" smtClean="0">
                <a:solidFill>
                  <a:srgbClr val="0070C0"/>
                </a:solidFill>
              </a:rPr>
              <a:t>)</a:t>
            </a:r>
          </a:p>
          <a:p>
            <a:pPr>
              <a:buNone/>
            </a:pPr>
            <a:r>
              <a:rPr lang="en-US" sz="2400" dirty="0" smtClean="0">
                <a:solidFill>
                  <a:srgbClr val="00B050"/>
                </a:solidFill>
              </a:rPr>
              <a:t>description</a:t>
            </a:r>
            <a:r>
              <a:rPr lang="en-US" sz="2400" dirty="0" smtClean="0"/>
              <a:t>: "</a:t>
            </a:r>
            <a:r>
              <a:rPr lang="en-US" sz="2400" dirty="0" err="1" smtClean="0"/>
              <a:t>JavaHonk</a:t>
            </a:r>
            <a:r>
              <a:rPr lang="en-US" sz="2400" dirty="0" smtClean="0"/>
              <a:t>~ Copies the </a:t>
            </a:r>
            <a:r>
              <a:rPr lang="en-US" sz="2400" dirty="0" err="1" smtClean="0"/>
              <a:t>galaxygreeks</a:t>
            </a:r>
            <a:r>
              <a:rPr lang="en-US" sz="2400" dirty="0" smtClean="0"/>
              <a:t>.&lt;date&gt;.</a:t>
            </a:r>
            <a:r>
              <a:rPr lang="en-US" sz="2400" dirty="0" err="1" smtClean="0"/>
              <a:t>csv</a:t>
            </a:r>
            <a:r>
              <a:rPr lang="en-US" sz="2400" dirty="0" smtClean="0"/>
              <a:t> file from /</a:t>
            </a:r>
            <a:r>
              <a:rPr lang="en-US" sz="2400" dirty="0" err="1" smtClean="0"/>
              <a:t>nas</a:t>
            </a:r>
            <a:r>
              <a:rPr lang="en-US" sz="2400" dirty="0" smtClean="0"/>
              <a:t>/ to locally in UAT"</a:t>
            </a:r>
          </a:p>
          <a:p>
            <a:pPr>
              <a:buNone/>
            </a:pPr>
            <a:r>
              <a:rPr lang="en-US" sz="2400" dirty="0" err="1" smtClean="0">
                <a:solidFill>
                  <a:srgbClr val="00B050"/>
                </a:solidFill>
              </a:rPr>
              <a:t>term_run_tim</a:t>
            </a:r>
            <a:r>
              <a:rPr lang="en-US" sz="2400" dirty="0" err="1" smtClean="0"/>
              <a:t>e</a:t>
            </a:r>
            <a:r>
              <a:rPr lang="en-US" sz="2400" dirty="0" smtClean="0"/>
              <a:t>: 10</a:t>
            </a:r>
          </a:p>
          <a:p>
            <a:pPr>
              <a:buNone/>
            </a:pPr>
            <a:r>
              <a:rPr lang="en-US" sz="2400" dirty="0" err="1" smtClean="0">
                <a:solidFill>
                  <a:srgbClr val="00B050"/>
                </a:solidFill>
              </a:rPr>
              <a:t>std_out_file</a:t>
            </a:r>
            <a:r>
              <a:rPr lang="en-US" sz="2400" dirty="0" smtClean="0">
                <a:solidFill>
                  <a:srgbClr val="00B050"/>
                </a:solidFill>
              </a:rPr>
              <a:t>: </a:t>
            </a:r>
            <a:r>
              <a:rPr lang="en-US" sz="2400" dirty="0" smtClean="0"/>
              <a:t>$${</a:t>
            </a:r>
            <a:r>
              <a:rPr lang="en-US" sz="2400" dirty="0" err="1" smtClean="0"/>
              <a:t>JavaHonk_JavaHonk_HOME_PATH</a:t>
            </a:r>
            <a:r>
              <a:rPr lang="en-US" sz="2400" dirty="0" smtClean="0"/>
              <a:t>}/logs/</a:t>
            </a:r>
            <a:r>
              <a:rPr lang="en-US" sz="2400" dirty="0" err="1" smtClean="0"/>
              <a:t>JavaHonk_greeks_local_copy.`date</a:t>
            </a:r>
            <a:r>
              <a:rPr lang="en-US" sz="2400" dirty="0" smtClean="0"/>
              <a:t> +%</a:t>
            </a:r>
            <a:r>
              <a:rPr lang="en-US" sz="2400" dirty="0" err="1" smtClean="0"/>
              <a:t>Y%m%d.%H%M`.out</a:t>
            </a:r>
            <a:endParaRPr lang="en-US" sz="2400" dirty="0" smtClean="0"/>
          </a:p>
          <a:p>
            <a:pPr>
              <a:buNone/>
            </a:pPr>
            <a:r>
              <a:rPr lang="en-US" sz="2400" dirty="0" err="1" smtClean="0">
                <a:solidFill>
                  <a:srgbClr val="00B050"/>
                </a:solidFill>
              </a:rPr>
              <a:t>std_err_file</a:t>
            </a:r>
            <a:r>
              <a:rPr lang="en-US" sz="2400" dirty="0" smtClean="0">
                <a:solidFill>
                  <a:srgbClr val="00B050"/>
                </a:solidFill>
              </a:rPr>
              <a:t>:</a:t>
            </a:r>
            <a:r>
              <a:rPr lang="en-US" sz="2400" dirty="0" smtClean="0"/>
              <a:t> $${</a:t>
            </a:r>
            <a:r>
              <a:rPr lang="en-US" sz="2400" dirty="0" err="1" smtClean="0"/>
              <a:t>JavaHonk_JavaHonk_HOME_PATH</a:t>
            </a:r>
            <a:r>
              <a:rPr lang="en-US" sz="2400" dirty="0" smtClean="0"/>
              <a:t>}/logs/</a:t>
            </a:r>
            <a:r>
              <a:rPr lang="en-US" sz="2400" dirty="0" err="1" smtClean="0"/>
              <a:t>JavaHonk_greeks_local_copy.`date</a:t>
            </a:r>
            <a:r>
              <a:rPr lang="en-US" sz="2400" dirty="0" smtClean="0"/>
              <a:t> +%</a:t>
            </a:r>
            <a:r>
              <a:rPr lang="en-US" sz="2400" dirty="0" err="1" smtClean="0"/>
              <a:t>Y%m%d.%H%M`.err</a:t>
            </a:r>
            <a:endParaRPr lang="en-US" sz="2400" dirty="0" smtClean="0"/>
          </a:p>
          <a:p>
            <a:pPr>
              <a:buNone/>
            </a:pPr>
            <a:r>
              <a:rPr lang="en-US" sz="2400" dirty="0" err="1" smtClean="0">
                <a:solidFill>
                  <a:srgbClr val="00B050"/>
                </a:solidFill>
              </a:rPr>
              <a:t>alarm_if_fail</a:t>
            </a:r>
            <a:r>
              <a:rPr lang="en-US" sz="2400" dirty="0" smtClean="0">
                <a:solidFill>
                  <a:srgbClr val="00B050"/>
                </a:solidFill>
              </a:rPr>
              <a:t>: 1</a:t>
            </a:r>
          </a:p>
          <a:p>
            <a:pPr>
              <a:buNone/>
            </a:pPr>
            <a:endParaRPr lang="en-US" sz="2400" dirty="0"/>
          </a:p>
        </p:txBody>
      </p:sp>
    </p:spTree>
    <p:extLst>
      <p:ext uri="{BB962C8B-B14F-4D97-AF65-F5344CB8AC3E}">
        <p14:creationId xmlns:p14="http://schemas.microsoft.com/office/powerpoint/2010/main" val="155353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r>
              <a:rPr lang="en-US" sz="2400" dirty="0" smtClean="0"/>
              <a:t>Box</a:t>
            </a:r>
          </a:p>
          <a:p>
            <a:pPr>
              <a:buNone/>
            </a:pPr>
            <a:r>
              <a:rPr lang="en-US" sz="2400" dirty="0" err="1" smtClean="0">
                <a:solidFill>
                  <a:srgbClr val="00B050"/>
                </a:solidFill>
              </a:rPr>
              <a:t>insert_job</a:t>
            </a:r>
            <a:r>
              <a:rPr lang="en-US" sz="2400" dirty="0" smtClean="0">
                <a:solidFill>
                  <a:srgbClr val="00B050"/>
                </a:solidFill>
              </a:rPr>
              <a:t>:</a:t>
            </a:r>
            <a:r>
              <a:rPr lang="en-US" sz="2400" dirty="0" smtClean="0">
                <a:solidFill>
                  <a:schemeClr val="accent5">
                    <a:lumMod val="50000"/>
                  </a:schemeClr>
                </a:solidFill>
              </a:rPr>
              <a:t> </a:t>
            </a:r>
            <a:r>
              <a:rPr lang="en-US" sz="2400" dirty="0" err="1" smtClean="0">
                <a:solidFill>
                  <a:schemeClr val="accent5">
                    <a:lumMod val="50000"/>
                  </a:schemeClr>
                </a:solidFill>
              </a:rPr>
              <a:t>JavaHonk_Greeks_Copy_box</a:t>
            </a:r>
            <a:r>
              <a:rPr lang="en-US" sz="2400" dirty="0" smtClean="0">
                <a:solidFill>
                  <a:schemeClr val="accent5">
                    <a:lumMod val="50000"/>
                  </a:schemeClr>
                </a:solidFill>
              </a:rPr>
              <a:t>   </a:t>
            </a:r>
            <a:r>
              <a:rPr lang="en-US" sz="2400" dirty="0" err="1" smtClean="0">
                <a:solidFill>
                  <a:srgbClr val="00B050"/>
                </a:solidFill>
              </a:rPr>
              <a:t>job_type</a:t>
            </a:r>
            <a:r>
              <a:rPr lang="en-US" sz="2400" dirty="0" smtClean="0">
                <a:solidFill>
                  <a:srgbClr val="00B050"/>
                </a:solidFill>
              </a:rPr>
              <a:t>:</a:t>
            </a:r>
            <a:r>
              <a:rPr lang="en-US" sz="2400" dirty="0" smtClean="0">
                <a:solidFill>
                  <a:srgbClr val="0070C0"/>
                </a:solidFill>
              </a:rPr>
              <a:t> b</a:t>
            </a:r>
          </a:p>
          <a:p>
            <a:pPr>
              <a:buNone/>
            </a:pPr>
            <a:r>
              <a:rPr lang="en-US" sz="2400" dirty="0" err="1" smtClean="0">
                <a:solidFill>
                  <a:srgbClr val="00B050"/>
                </a:solidFill>
              </a:rPr>
              <a:t>box_name</a:t>
            </a:r>
            <a:r>
              <a:rPr lang="en-US" sz="2400" dirty="0" smtClean="0">
                <a:solidFill>
                  <a:schemeClr val="accent5">
                    <a:lumMod val="50000"/>
                  </a:schemeClr>
                </a:solidFill>
              </a:rPr>
              <a:t>: </a:t>
            </a:r>
            <a:r>
              <a:rPr lang="en-US" sz="2400" dirty="0" err="1" smtClean="0">
                <a:solidFill>
                  <a:schemeClr val="accent5">
                    <a:lumMod val="50000"/>
                  </a:schemeClr>
                </a:solidFill>
              </a:rPr>
              <a:t>JavaHonk_EOD_PrePNL_Box</a:t>
            </a:r>
            <a:endParaRPr lang="en-US" sz="2400" dirty="0" smtClean="0">
              <a:solidFill>
                <a:schemeClr val="accent5">
                  <a:lumMod val="50000"/>
                </a:schemeClr>
              </a:solidFill>
            </a:endParaRPr>
          </a:p>
          <a:p>
            <a:pPr>
              <a:buNone/>
            </a:pPr>
            <a:r>
              <a:rPr lang="en-US" sz="2400" dirty="0" smtClean="0">
                <a:solidFill>
                  <a:srgbClr val="00B050"/>
                </a:solidFill>
              </a:rPr>
              <a:t>owner</a:t>
            </a:r>
            <a:r>
              <a:rPr lang="en-US" sz="2400" dirty="0" smtClean="0">
                <a:solidFill>
                  <a:schemeClr val="accent5">
                    <a:lumMod val="50000"/>
                  </a:schemeClr>
                </a:solidFill>
              </a:rPr>
              <a:t>: </a:t>
            </a:r>
            <a:r>
              <a:rPr lang="en-US" sz="2400" dirty="0" err="1" smtClean="0">
                <a:solidFill>
                  <a:schemeClr val="accent5">
                    <a:lumMod val="50000"/>
                  </a:schemeClr>
                </a:solidFill>
              </a:rPr>
              <a:t>JavaHonk</a:t>
            </a:r>
            <a:endParaRPr lang="en-US" sz="2400" dirty="0" smtClean="0">
              <a:solidFill>
                <a:schemeClr val="accent5">
                  <a:lumMod val="50000"/>
                </a:schemeClr>
              </a:solidFill>
            </a:endParaRPr>
          </a:p>
          <a:p>
            <a:pPr>
              <a:buNone/>
            </a:pPr>
            <a:r>
              <a:rPr lang="en-US" sz="2400" dirty="0" smtClean="0">
                <a:solidFill>
                  <a:srgbClr val="00B050"/>
                </a:solidFill>
              </a:rPr>
              <a:t>permission</a:t>
            </a:r>
            <a:r>
              <a:rPr lang="en-US" sz="2400" dirty="0" smtClean="0">
                <a:solidFill>
                  <a:schemeClr val="accent5">
                    <a:lumMod val="50000"/>
                  </a:schemeClr>
                </a:solidFill>
              </a:rPr>
              <a:t>: </a:t>
            </a:r>
            <a:r>
              <a:rPr lang="en-US" sz="2400" dirty="0" err="1" smtClean="0">
                <a:solidFill>
                  <a:schemeClr val="accent5">
                    <a:lumMod val="50000"/>
                  </a:schemeClr>
                </a:solidFill>
              </a:rPr>
              <a:t>mx,me</a:t>
            </a:r>
            <a:endParaRPr lang="en-US" sz="2400" dirty="0" smtClean="0">
              <a:solidFill>
                <a:schemeClr val="accent5">
                  <a:lumMod val="50000"/>
                </a:schemeClr>
              </a:solidFill>
            </a:endParaRPr>
          </a:p>
          <a:p>
            <a:pPr>
              <a:buNone/>
            </a:pPr>
            <a:r>
              <a:rPr lang="en-US" sz="2400" dirty="0" err="1" smtClean="0">
                <a:solidFill>
                  <a:srgbClr val="00B050"/>
                </a:solidFill>
              </a:rPr>
              <a:t>date_conditions</a:t>
            </a:r>
            <a:r>
              <a:rPr lang="en-US" sz="2400" dirty="0" smtClean="0">
                <a:solidFill>
                  <a:schemeClr val="accent5">
                    <a:lumMod val="50000"/>
                  </a:schemeClr>
                </a:solidFill>
              </a:rPr>
              <a:t>: 1</a:t>
            </a:r>
          </a:p>
          <a:p>
            <a:pPr>
              <a:buNone/>
            </a:pPr>
            <a:r>
              <a:rPr lang="en-US" sz="2400" dirty="0" err="1" smtClean="0">
                <a:solidFill>
                  <a:srgbClr val="00B050"/>
                </a:solidFill>
              </a:rPr>
              <a:t>days_of_week</a:t>
            </a:r>
            <a:r>
              <a:rPr lang="en-US" sz="2400" dirty="0" smtClean="0">
                <a:solidFill>
                  <a:srgbClr val="00B050"/>
                </a:solidFill>
              </a:rPr>
              <a:t>:</a:t>
            </a:r>
            <a:r>
              <a:rPr lang="en-US" sz="2400" dirty="0" smtClean="0">
                <a:solidFill>
                  <a:schemeClr val="accent5">
                    <a:lumMod val="50000"/>
                  </a:schemeClr>
                </a:solidFill>
              </a:rPr>
              <a:t> </a:t>
            </a:r>
            <a:r>
              <a:rPr lang="en-US" sz="2400" dirty="0" err="1" smtClean="0">
                <a:solidFill>
                  <a:schemeClr val="accent5">
                    <a:lumMod val="50000"/>
                  </a:schemeClr>
                </a:solidFill>
              </a:rPr>
              <a:t>mo,tu,we,th,fr</a:t>
            </a:r>
            <a:endParaRPr lang="en-US" sz="2400" dirty="0" smtClean="0">
              <a:solidFill>
                <a:schemeClr val="accent5">
                  <a:lumMod val="50000"/>
                </a:schemeClr>
              </a:solidFill>
            </a:endParaRPr>
          </a:p>
          <a:p>
            <a:pPr>
              <a:buNone/>
            </a:pPr>
            <a:r>
              <a:rPr lang="en-US" sz="2400" dirty="0" err="1" smtClean="0">
                <a:solidFill>
                  <a:srgbClr val="00B050"/>
                </a:solidFill>
              </a:rPr>
              <a:t>exclude_calendar</a:t>
            </a:r>
            <a:r>
              <a:rPr lang="en-US" sz="2400" dirty="0" smtClean="0">
                <a:solidFill>
                  <a:schemeClr val="accent5">
                    <a:lumMod val="50000"/>
                  </a:schemeClr>
                </a:solidFill>
              </a:rPr>
              <a:t>: CORP_NYSE_HOLIDAYS</a:t>
            </a:r>
          </a:p>
          <a:p>
            <a:pPr>
              <a:buNone/>
            </a:pPr>
            <a:r>
              <a:rPr lang="en-US" sz="2400" dirty="0" err="1" smtClean="0">
                <a:solidFill>
                  <a:srgbClr val="00B050"/>
                </a:solidFill>
              </a:rPr>
              <a:t>start_times</a:t>
            </a:r>
            <a:r>
              <a:rPr lang="en-US" sz="2400" dirty="0" smtClean="0">
                <a:solidFill>
                  <a:schemeClr val="accent5">
                    <a:lumMod val="50000"/>
                  </a:schemeClr>
                </a:solidFill>
              </a:rPr>
              <a:t>: "19:20"</a:t>
            </a:r>
          </a:p>
          <a:p>
            <a:pPr>
              <a:buNone/>
            </a:pPr>
            <a:r>
              <a:rPr lang="en-US" sz="2400" dirty="0" err="1" smtClean="0">
                <a:solidFill>
                  <a:srgbClr val="00B050"/>
                </a:solidFill>
              </a:rPr>
              <a:t>box_success</a:t>
            </a:r>
            <a:r>
              <a:rPr lang="en-US" sz="2400" dirty="0" smtClean="0">
                <a:solidFill>
                  <a:schemeClr val="accent5">
                    <a:lumMod val="50000"/>
                  </a:schemeClr>
                </a:solidFill>
              </a:rPr>
              <a:t>: s(</a:t>
            </a:r>
            <a:r>
              <a:rPr lang="en-US" sz="2400" dirty="0" err="1" smtClean="0">
                <a:solidFill>
                  <a:schemeClr val="accent5">
                    <a:lumMod val="50000"/>
                  </a:schemeClr>
                </a:solidFill>
              </a:rPr>
              <a:t>JavaHonk_greeks_local_copy</a:t>
            </a:r>
            <a:r>
              <a:rPr lang="en-US" sz="2400" dirty="0" smtClean="0">
                <a:solidFill>
                  <a:schemeClr val="accent5">
                    <a:lumMod val="50000"/>
                  </a:schemeClr>
                </a:solidFill>
              </a:rPr>
              <a:t>) | (e(</a:t>
            </a:r>
            <a:r>
              <a:rPr lang="en-US" sz="2400" dirty="0" err="1" smtClean="0">
                <a:solidFill>
                  <a:schemeClr val="accent5">
                    <a:lumMod val="50000"/>
                  </a:schemeClr>
                </a:solidFill>
              </a:rPr>
              <a:t>JavaHonk_NYSEHolidayChk_Greeks_Copy_c</a:t>
            </a:r>
            <a:r>
              <a:rPr lang="en-US" sz="2400" dirty="0" smtClean="0">
                <a:solidFill>
                  <a:schemeClr val="accent5">
                    <a:lumMod val="50000"/>
                  </a:schemeClr>
                </a:solidFill>
              </a:rPr>
              <a:t>) = 1)</a:t>
            </a:r>
          </a:p>
          <a:p>
            <a:pPr>
              <a:buNone/>
            </a:pPr>
            <a:r>
              <a:rPr lang="en-US" sz="2400" dirty="0" smtClean="0">
                <a:solidFill>
                  <a:schemeClr val="accent5">
                    <a:lumMod val="50000"/>
                  </a:schemeClr>
                </a:solidFill>
              </a:rPr>
              <a:t>description: "</a:t>
            </a:r>
            <a:r>
              <a:rPr lang="en-US" sz="2400" dirty="0" err="1" smtClean="0">
                <a:solidFill>
                  <a:schemeClr val="accent5">
                    <a:lumMod val="50000"/>
                  </a:schemeClr>
                </a:solidFill>
              </a:rPr>
              <a:t>JavaHonk</a:t>
            </a:r>
            <a:r>
              <a:rPr lang="en-US" sz="2400" dirty="0" smtClean="0">
                <a:solidFill>
                  <a:schemeClr val="accent5">
                    <a:lumMod val="50000"/>
                  </a:schemeClr>
                </a:solidFill>
              </a:rPr>
              <a:t>~ Galaxy Greeks File copy process from RV location"</a:t>
            </a:r>
          </a:p>
          <a:p>
            <a:pPr>
              <a:buNone/>
            </a:pPr>
            <a:r>
              <a:rPr lang="en-US" sz="2400" dirty="0" err="1" smtClean="0">
                <a:solidFill>
                  <a:srgbClr val="00B050"/>
                </a:solidFill>
              </a:rPr>
              <a:t>term_run_time</a:t>
            </a:r>
            <a:r>
              <a:rPr lang="en-US" sz="2400" dirty="0" smtClean="0">
                <a:solidFill>
                  <a:schemeClr val="accent5">
                    <a:lumMod val="50000"/>
                  </a:schemeClr>
                </a:solidFill>
              </a:rPr>
              <a:t>: 180</a:t>
            </a:r>
          </a:p>
          <a:p>
            <a:pPr>
              <a:buNone/>
            </a:pPr>
            <a:r>
              <a:rPr lang="en-US" sz="2400" dirty="0" err="1" smtClean="0">
                <a:solidFill>
                  <a:srgbClr val="00B050"/>
                </a:solidFill>
              </a:rPr>
              <a:t>max_run_alarm</a:t>
            </a:r>
            <a:r>
              <a:rPr lang="en-US" sz="2400" dirty="0" smtClean="0">
                <a:solidFill>
                  <a:schemeClr val="accent5">
                    <a:lumMod val="50000"/>
                  </a:schemeClr>
                </a:solidFill>
              </a:rPr>
              <a:t>: 180</a:t>
            </a:r>
          </a:p>
          <a:p>
            <a:pPr>
              <a:buNone/>
            </a:pPr>
            <a:r>
              <a:rPr lang="en-US" sz="2400" dirty="0" err="1" smtClean="0">
                <a:solidFill>
                  <a:srgbClr val="00B050"/>
                </a:solidFill>
              </a:rPr>
              <a:t>alarm_if_fail</a:t>
            </a:r>
            <a:r>
              <a:rPr lang="en-US" sz="2400" dirty="0" smtClean="0">
                <a:solidFill>
                  <a:schemeClr val="accent5">
                    <a:lumMod val="50000"/>
                  </a:schemeClr>
                </a:solidFill>
              </a:rPr>
              <a:t>: 1</a:t>
            </a:r>
          </a:p>
        </p:txBody>
      </p:sp>
    </p:spTree>
    <p:extLst>
      <p:ext uri="{BB962C8B-B14F-4D97-AF65-F5344CB8AC3E}">
        <p14:creationId xmlns:p14="http://schemas.microsoft.com/office/powerpoint/2010/main" val="4197402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GUI</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Job Definition GUI</a:t>
            </a:r>
          </a:p>
          <a:p>
            <a:pPr marL="0" indent="0">
              <a:buNone/>
            </a:pPr>
            <a:r>
              <a:rPr lang="en-US" dirty="0"/>
              <a:t>The Job Definition dialog contains fields representing all the basic information you need to </a:t>
            </a:r>
            <a:r>
              <a:rPr lang="en-US" dirty="0" smtClean="0"/>
              <a:t>define  a </a:t>
            </a:r>
            <a:r>
              <a:rPr lang="en-US" dirty="0"/>
              <a:t>job.</a:t>
            </a:r>
          </a:p>
          <a:p>
            <a:pPr marL="0" indent="0">
              <a:buNone/>
            </a:pPr>
            <a:r>
              <a:rPr lang="en-US" dirty="0"/>
              <a:t>The fields in the Job Definition dialog are context sensitive based on the type of job being defined.</a:t>
            </a:r>
          </a:p>
          <a:p>
            <a:pPr marL="0" indent="0">
              <a:buNone/>
            </a:pPr>
            <a:r>
              <a:rPr lang="en-US" dirty="0"/>
              <a:t>When you select a Job Type, only the fields appropriate to that type of job are displayed and</a:t>
            </a:r>
          </a:p>
          <a:p>
            <a:pPr marL="0" indent="0">
              <a:buNone/>
            </a:pPr>
            <a:r>
              <a:rPr lang="en-US" dirty="0"/>
              <a:t>activated, and the other fields are disabled.</a:t>
            </a:r>
          </a:p>
        </p:txBody>
      </p:sp>
    </p:spTree>
    <p:extLst>
      <p:ext uri="{BB962C8B-B14F-4D97-AF65-F5344CB8AC3E}">
        <p14:creationId xmlns:p14="http://schemas.microsoft.com/office/powerpoint/2010/main" val="449288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0"/>
            <a:ext cx="8382000" cy="5592763"/>
          </a:xfrm>
        </p:spPr>
        <p:txBody>
          <a:bodyPr>
            <a:normAutofit lnSpcReduction="10000"/>
          </a:bodyPr>
          <a:lstStyle/>
          <a:p>
            <a:pPr marL="0" indent="0">
              <a:buNone/>
            </a:pPr>
            <a:r>
              <a:rPr lang="en-US" sz="2800" b="1" dirty="0" smtClean="0"/>
              <a:t>Main Tab:-</a:t>
            </a:r>
          </a:p>
          <a:p>
            <a:pPr marL="0" indent="0">
              <a:buNone/>
            </a:pPr>
            <a:r>
              <a:rPr lang="en-US" sz="2800" dirty="0" smtClean="0"/>
              <a:t>Shows all the INSTANCE and jobs user has access to.</a:t>
            </a:r>
            <a:endParaRPr lang="en-US" sz="2800" dirty="0"/>
          </a:p>
          <a:p>
            <a:pPr marL="0" indent="0">
              <a:buNone/>
            </a:pPr>
            <a:endParaRPr lang="en-US" sz="2800" b="1" dirty="0" smtClean="0"/>
          </a:p>
          <a:p>
            <a:pPr marL="0" indent="0">
              <a:buNone/>
            </a:pPr>
            <a:r>
              <a:rPr lang="en-US" sz="2800" b="1" dirty="0" smtClean="0"/>
              <a:t>QVIEW Tab:-</a:t>
            </a:r>
          </a:p>
          <a:p>
            <a:pPr marL="0" indent="0">
              <a:buNone/>
            </a:pPr>
            <a:r>
              <a:rPr lang="en-US" sz="2800" b="1" dirty="0" smtClean="0"/>
              <a:t>----Searching the Jobs</a:t>
            </a:r>
            <a:endParaRPr lang="en-US" sz="2800" dirty="0" smtClean="0"/>
          </a:p>
          <a:p>
            <a:pPr marL="0" indent="0">
              <a:buNone/>
            </a:pPr>
            <a:r>
              <a:rPr lang="en-US" sz="2800" dirty="0" smtClean="0"/>
              <a:t>QVIEW tab</a:t>
            </a:r>
            <a:r>
              <a:rPr lang="en-US" sz="2800" dirty="0" smtClean="0">
                <a:sym typeface="Wingdings" panose="05000000000000000000" pitchFamily="2" charset="2"/>
              </a:rPr>
              <a:t> Enter </a:t>
            </a:r>
            <a:r>
              <a:rPr lang="en-US" sz="2800" dirty="0" smtClean="0"/>
              <a:t>Job instance </a:t>
            </a:r>
          </a:p>
          <a:p>
            <a:pPr>
              <a:buFont typeface="Wingdings" panose="05000000000000000000" pitchFamily="2" charset="2"/>
              <a:buChar char="à"/>
            </a:pPr>
            <a:r>
              <a:rPr lang="en-US" sz="2800" dirty="0" smtClean="0"/>
              <a:t>Job name(Case Sensitive, does NOT ignore spaces)</a:t>
            </a:r>
          </a:p>
          <a:p>
            <a:pPr marL="0" indent="0">
              <a:buNone/>
            </a:pPr>
            <a:r>
              <a:rPr lang="en-US" sz="2800" dirty="0"/>
              <a:t> </a:t>
            </a:r>
            <a:r>
              <a:rPr lang="en-US" sz="2800" dirty="0" smtClean="0"/>
              <a:t> sample job name: 146778_EmeaBatchRollBox</a:t>
            </a:r>
          </a:p>
          <a:p>
            <a:pPr marL="0" indent="0">
              <a:buNone/>
            </a:pPr>
            <a:r>
              <a:rPr lang="en-US" sz="2800" dirty="0"/>
              <a:t> </a:t>
            </a:r>
            <a:r>
              <a:rPr lang="en-US" sz="2800" dirty="0" smtClean="0"/>
              <a:t>                               generally prefixed by </a:t>
            </a:r>
            <a:r>
              <a:rPr lang="en-US" sz="2800" dirty="0" err="1" smtClean="0"/>
              <a:t>applicationID</a:t>
            </a:r>
            <a:r>
              <a:rPr lang="en-US" sz="2800" dirty="0" smtClean="0"/>
              <a:t>		</a:t>
            </a:r>
          </a:p>
          <a:p>
            <a:pPr marL="0" indent="0">
              <a:buNone/>
            </a:pPr>
            <a:r>
              <a:rPr lang="en-US" sz="2800" dirty="0" smtClean="0">
                <a:sym typeface="Wingdings" panose="05000000000000000000" pitchFamily="2" charset="2"/>
              </a:rPr>
              <a:t></a:t>
            </a:r>
            <a:r>
              <a:rPr lang="en-US" sz="2800" dirty="0" smtClean="0"/>
              <a:t>Action (to be performed on job ; Can be selected from drop down )</a:t>
            </a:r>
          </a:p>
          <a:p>
            <a:pPr marL="0" indent="0">
              <a:buNone/>
            </a:pPr>
            <a:endParaRPr lang="en-US" sz="2800" dirty="0"/>
          </a:p>
          <a:p>
            <a:pPr marL="0" indent="0">
              <a:buNone/>
            </a:pPr>
            <a:endParaRPr lang="en-US" sz="2800" dirty="0"/>
          </a:p>
        </p:txBody>
      </p:sp>
    </p:spTree>
    <p:extLst>
      <p:ext uri="{BB962C8B-B14F-4D97-AF65-F5344CB8AC3E}">
        <p14:creationId xmlns:p14="http://schemas.microsoft.com/office/powerpoint/2010/main" val="908746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382000" cy="5745163"/>
          </a:xfrm>
        </p:spPr>
        <p:txBody>
          <a:bodyPr/>
          <a:lstStyle/>
          <a:p>
            <a:pPr marL="0" indent="0">
              <a:buNone/>
            </a:pPr>
            <a:endParaRPr lang="en-US" dirty="0" smtClean="0"/>
          </a:p>
          <a:p>
            <a:pPr marL="0" indent="0">
              <a:buNone/>
            </a:pPr>
            <a:r>
              <a:rPr lang="en-US" b="1" dirty="0" smtClean="0"/>
              <a:t>QEDIT</a:t>
            </a:r>
            <a:r>
              <a:rPr lang="en-US" dirty="0" smtClean="0"/>
              <a:t> Tab:-</a:t>
            </a:r>
          </a:p>
          <a:p>
            <a:pPr marL="0" indent="0">
              <a:buNone/>
            </a:pPr>
            <a:r>
              <a:rPr lang="en-US" dirty="0"/>
              <a:t>Quick Edit lets you create, edit, delete, and search for individual objects: jobs, machines, calendars, and global </a:t>
            </a:r>
            <a:r>
              <a:rPr lang="en-US" dirty="0" smtClean="0"/>
              <a:t>variables</a:t>
            </a:r>
          </a:p>
          <a:p>
            <a:pPr marL="0" indent="0">
              <a:buNone/>
            </a:pPr>
            <a:r>
              <a:rPr lang="en-US" dirty="0" smtClean="0"/>
              <a:t>Edit the:</a:t>
            </a:r>
          </a:p>
          <a:p>
            <a:r>
              <a:rPr lang="en-US" dirty="0" smtClean="0"/>
              <a:t>Jobs</a:t>
            </a:r>
          </a:p>
          <a:p>
            <a:r>
              <a:rPr lang="en-US" dirty="0" smtClean="0"/>
              <a:t>Job Box</a:t>
            </a:r>
          </a:p>
          <a:p>
            <a:r>
              <a:rPr lang="en-US" dirty="0" smtClean="0"/>
              <a:t>Calendars</a:t>
            </a:r>
          </a:p>
          <a:p>
            <a:r>
              <a:rPr lang="en-US" dirty="0" smtClean="0"/>
              <a:t>Machines</a:t>
            </a:r>
          </a:p>
          <a:p>
            <a:pPr marL="0" indent="0">
              <a:buNone/>
            </a:pPr>
            <a:endParaRPr lang="en-US" dirty="0"/>
          </a:p>
          <a:p>
            <a:pPr marL="0" indent="0">
              <a:buNone/>
            </a:pPr>
            <a:endParaRPr lang="en-US" dirty="0" smtClean="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132892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normAutofit fontScale="92500" lnSpcReduction="20000"/>
          </a:bodyPr>
          <a:lstStyle/>
          <a:p>
            <a:pPr marL="0" indent="0">
              <a:buNone/>
            </a:pPr>
            <a:r>
              <a:rPr lang="en-US" sz="2800" b="1" dirty="0" smtClean="0"/>
              <a:t>Name-</a:t>
            </a:r>
            <a:r>
              <a:rPr lang="en-US" sz="2800" dirty="0" smtClean="0"/>
              <a:t> Name of Job</a:t>
            </a:r>
          </a:p>
          <a:p>
            <a:pPr marL="0" indent="0">
              <a:buNone/>
            </a:pPr>
            <a:r>
              <a:rPr lang="en-US" sz="2800" b="1" dirty="0" smtClean="0"/>
              <a:t>Description-</a:t>
            </a:r>
            <a:r>
              <a:rPr lang="en-US" sz="2800" dirty="0" smtClean="0"/>
              <a:t> Purpose of job</a:t>
            </a:r>
          </a:p>
          <a:p>
            <a:pPr marL="0" indent="0">
              <a:buNone/>
            </a:pPr>
            <a:r>
              <a:rPr lang="en-US" sz="2800" b="1" dirty="0" smtClean="0"/>
              <a:t>Condition-</a:t>
            </a:r>
            <a:r>
              <a:rPr lang="en-US" sz="2800" dirty="0" smtClean="0"/>
              <a:t> Starting conditions(if any)</a:t>
            </a:r>
          </a:p>
          <a:p>
            <a:pPr marL="0" indent="0">
              <a:buNone/>
            </a:pPr>
            <a:r>
              <a:rPr lang="en-US" sz="2800" dirty="0" smtClean="0"/>
              <a:t>	  s(</a:t>
            </a:r>
            <a:r>
              <a:rPr lang="en-US" sz="2800" dirty="0" err="1" smtClean="0"/>
              <a:t>job_name</a:t>
            </a:r>
            <a:r>
              <a:rPr lang="en-US" sz="2800" dirty="0" smtClean="0"/>
              <a:t>)-&gt; given job will run ONLY IF the jobs 	   “</a:t>
            </a:r>
            <a:r>
              <a:rPr lang="en-US" sz="2800" dirty="0" err="1" smtClean="0"/>
              <a:t>job_name</a:t>
            </a:r>
            <a:r>
              <a:rPr lang="en-US" sz="2800" dirty="0" smtClean="0"/>
              <a:t>” will go to SUCCESS.</a:t>
            </a:r>
          </a:p>
          <a:p>
            <a:pPr marL="0" indent="0">
              <a:buNone/>
            </a:pPr>
            <a:r>
              <a:rPr lang="en-US" sz="2800" b="1" dirty="0" smtClean="0"/>
              <a:t>Owner-</a:t>
            </a:r>
            <a:r>
              <a:rPr lang="en-US" sz="2800" dirty="0" smtClean="0"/>
              <a:t> Owner of job</a:t>
            </a:r>
          </a:p>
          <a:p>
            <a:pPr marL="0" indent="0">
              <a:buNone/>
            </a:pPr>
            <a:endParaRPr lang="en-US" sz="2800" dirty="0"/>
          </a:p>
          <a:p>
            <a:pPr marL="0" indent="0">
              <a:buNone/>
            </a:pPr>
            <a:r>
              <a:rPr lang="en-US" sz="2800" b="1" dirty="0" err="1" smtClean="0"/>
              <a:t>Max_Run_time</a:t>
            </a:r>
            <a:r>
              <a:rPr lang="en-US" sz="2800" dirty="0" smtClean="0"/>
              <a:t>- Max. time job is allowed to run</a:t>
            </a:r>
          </a:p>
          <a:p>
            <a:pPr marL="0" indent="0">
              <a:buNone/>
            </a:pPr>
            <a:r>
              <a:rPr lang="en-US" sz="2800" b="1" dirty="0" err="1" smtClean="0"/>
              <a:t>Sent_Alarm_on_Failure</a:t>
            </a:r>
            <a:r>
              <a:rPr lang="en-US" sz="2800" dirty="0" smtClean="0"/>
              <a:t>- Sends email alert </a:t>
            </a:r>
            <a:r>
              <a:rPr lang="en-US" sz="2800" dirty="0" err="1" smtClean="0"/>
              <a:t>notif</a:t>
            </a:r>
            <a:r>
              <a:rPr lang="en-US" sz="2800" dirty="0" smtClean="0"/>
              <a:t>.</a:t>
            </a:r>
          </a:p>
          <a:p>
            <a:pPr marL="0" indent="0">
              <a:buNone/>
            </a:pPr>
            <a:endParaRPr lang="en-US" sz="2800" dirty="0"/>
          </a:p>
          <a:p>
            <a:pPr marL="0" indent="0">
              <a:buNone/>
            </a:pPr>
            <a:r>
              <a:rPr lang="en-US" sz="2800" b="1" dirty="0" smtClean="0"/>
              <a:t>Status Time- </a:t>
            </a:r>
            <a:r>
              <a:rPr lang="en-US" sz="2800" dirty="0" smtClean="0"/>
              <a:t>Latest runtime of job</a:t>
            </a:r>
          </a:p>
          <a:p>
            <a:pPr marL="0" indent="0">
              <a:buNone/>
            </a:pPr>
            <a:r>
              <a:rPr lang="en-US" sz="2800" b="1" dirty="0" err="1" smtClean="0"/>
              <a:t>Next_Run_Time</a:t>
            </a:r>
            <a:r>
              <a:rPr lang="en-US" sz="2800" b="1" dirty="0" smtClean="0"/>
              <a:t>-</a:t>
            </a:r>
            <a:r>
              <a:rPr lang="en-US" sz="2800" dirty="0" smtClean="0"/>
              <a:t> next scheduled run </a:t>
            </a:r>
          </a:p>
          <a:p>
            <a:pPr marL="0" indent="0">
              <a:buNone/>
            </a:pPr>
            <a:endParaRPr lang="en-US" sz="2800" dirty="0" smtClean="0"/>
          </a:p>
          <a:p>
            <a:pPr marL="0" indent="0">
              <a:buNone/>
            </a:pPr>
            <a:endParaRPr lang="en-US" sz="2800" dirty="0" smtClean="0"/>
          </a:p>
          <a:p>
            <a:pPr marL="0" indent="0">
              <a:buNone/>
            </a:pPr>
            <a:endParaRPr lang="en-US" sz="2400" dirty="0"/>
          </a:p>
        </p:txBody>
      </p:sp>
    </p:spTree>
    <p:extLst>
      <p:ext uri="{BB962C8B-B14F-4D97-AF65-F5344CB8AC3E}">
        <p14:creationId xmlns:p14="http://schemas.microsoft.com/office/powerpoint/2010/main" val="34698483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88" y="1219200"/>
            <a:ext cx="9173688" cy="5601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914400" y="542479"/>
            <a:ext cx="5867400" cy="584775"/>
          </a:xfrm>
          <a:prstGeom prst="rect">
            <a:avLst/>
          </a:prstGeom>
        </p:spPr>
        <p:txBody>
          <a:bodyPr wrap="square">
            <a:spAutoFit/>
          </a:bodyPr>
          <a:lstStyle/>
          <a:p>
            <a:r>
              <a:rPr lang="en-US" sz="3200" dirty="0">
                <a:solidFill>
                  <a:prstClr val="black"/>
                </a:solidFill>
              </a:rPr>
              <a:t>Dependencies and </a:t>
            </a:r>
            <a:endParaRPr lang="en-US" dirty="0"/>
          </a:p>
        </p:txBody>
      </p:sp>
      <p:sp>
        <p:nvSpPr>
          <p:cNvPr id="5" name="Rectangle 4"/>
          <p:cNvSpPr/>
          <p:nvPr/>
        </p:nvSpPr>
        <p:spPr>
          <a:xfrm>
            <a:off x="4191000" y="515650"/>
            <a:ext cx="4191000" cy="584775"/>
          </a:xfrm>
          <a:prstGeom prst="rect">
            <a:avLst/>
          </a:prstGeom>
        </p:spPr>
        <p:txBody>
          <a:bodyPr wrap="square">
            <a:spAutoFit/>
          </a:bodyPr>
          <a:lstStyle/>
          <a:p>
            <a:pPr lvl="0">
              <a:spcBef>
                <a:spcPct val="20000"/>
              </a:spcBef>
            </a:pPr>
            <a:r>
              <a:rPr lang="en-US" sz="3200" dirty="0" smtClean="0">
                <a:solidFill>
                  <a:prstClr val="black"/>
                </a:solidFill>
              </a:rPr>
              <a:t>Previous Run </a:t>
            </a:r>
            <a:r>
              <a:rPr lang="en-US" sz="3200" dirty="0">
                <a:solidFill>
                  <a:prstClr val="black"/>
                </a:solidFill>
              </a:rPr>
              <a:t>Status</a:t>
            </a:r>
          </a:p>
        </p:txBody>
      </p:sp>
    </p:spTree>
    <p:extLst>
      <p:ext uri="{BB962C8B-B14F-4D97-AF65-F5344CB8AC3E}">
        <p14:creationId xmlns:p14="http://schemas.microsoft.com/office/powerpoint/2010/main" val="6694825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905000"/>
            <a:ext cx="8224838"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5639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Job Action:-</a:t>
            </a:r>
          </a:p>
          <a:p>
            <a:pPr marL="0" indent="0">
              <a:buNone/>
            </a:pPr>
            <a:r>
              <a:rPr lang="en-US" dirty="0" smtClean="0"/>
              <a:t>Send  Event:-</a:t>
            </a:r>
          </a:p>
          <a:p>
            <a:pPr marL="0" indent="0">
              <a:buNone/>
            </a:pPr>
            <a:r>
              <a:rPr lang="en-US" dirty="0" smtClean="0"/>
              <a:t>Marking job Success/ fail </a:t>
            </a:r>
            <a:r>
              <a:rPr lang="en-US" dirty="0" err="1" smtClean="0"/>
              <a:t>etc</a:t>
            </a:r>
            <a:endParaRPr lang="en-US" dirty="0" smtClean="0"/>
          </a:p>
          <a:p>
            <a:pPr marL="0" indent="0">
              <a:buNone/>
            </a:pPr>
            <a:endParaRPr lang="en-US" dirty="0" smtClean="0"/>
          </a:p>
          <a:p>
            <a:pPr marL="0" indent="0">
              <a:buNone/>
            </a:pP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3415145"/>
            <a:ext cx="3848100"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8164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752600"/>
            <a:ext cx="8229600" cy="4525963"/>
          </a:xfrm>
        </p:spPr>
        <p:txBody>
          <a:bodyPr/>
          <a:lstStyle/>
          <a:p>
            <a:pPr marL="0" indent="0">
              <a:buNone/>
            </a:pPr>
            <a:r>
              <a:rPr lang="en-US" dirty="0" smtClean="0"/>
              <a:t>View and Edit Calendars:-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741" y="2628734"/>
            <a:ext cx="7870016" cy="3772066"/>
          </a:xfrm>
          <a:prstGeom prst="rect">
            <a:avLst/>
          </a:prstGeom>
        </p:spPr>
      </p:pic>
    </p:spTree>
    <p:extLst>
      <p:ext uri="{BB962C8B-B14F-4D97-AF65-F5344CB8AC3E}">
        <p14:creationId xmlns:p14="http://schemas.microsoft.com/office/powerpoint/2010/main" val="29468233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lnSpcReduction="10000"/>
          </a:bodyPr>
          <a:lstStyle/>
          <a:p>
            <a:pPr marL="0" indent="0">
              <a:buNone/>
            </a:pPr>
            <a:r>
              <a:rPr lang="en-US" dirty="0" smtClean="0"/>
              <a:t>Date Scheduling:-</a:t>
            </a:r>
          </a:p>
          <a:p>
            <a:pPr marL="0" indent="0">
              <a:buNone/>
            </a:pPr>
            <a:r>
              <a:rPr lang="en-US" dirty="0" smtClean="0"/>
              <a:t>Calendars schedule the days job SHOULD run or should NOT run.</a:t>
            </a:r>
          </a:p>
          <a:p>
            <a:pPr marL="514350" indent="-514350">
              <a:buAutoNum type="arabicPeriod"/>
            </a:pPr>
            <a:r>
              <a:rPr lang="en-US" b="1" dirty="0" smtClean="0"/>
              <a:t>Standard</a:t>
            </a:r>
            <a:r>
              <a:rPr lang="en-US" dirty="0" smtClean="0"/>
              <a:t> Cal. – </a:t>
            </a:r>
          </a:p>
          <a:p>
            <a:pPr marL="514350" indent="-514350">
              <a:buAutoNum type="alphaLcPeriod"/>
            </a:pPr>
            <a:r>
              <a:rPr lang="en-US" u="sng" dirty="0" smtClean="0"/>
              <a:t>Run</a:t>
            </a:r>
            <a:r>
              <a:rPr lang="en-US" dirty="0" smtClean="0"/>
              <a:t> Cal.- Specify the days job should process/ run</a:t>
            </a:r>
          </a:p>
          <a:p>
            <a:pPr marL="514350" indent="-514350">
              <a:buAutoNum type="alphaLcPeriod"/>
            </a:pPr>
            <a:r>
              <a:rPr lang="en-US" u="sng" dirty="0" smtClean="0"/>
              <a:t>Exclude</a:t>
            </a:r>
            <a:r>
              <a:rPr lang="en-US" dirty="0" smtClean="0"/>
              <a:t> Cal.- Days job should NOT run</a:t>
            </a:r>
          </a:p>
          <a:p>
            <a:pPr marL="0" indent="0">
              <a:buNone/>
            </a:pPr>
            <a:r>
              <a:rPr lang="en-US" dirty="0" smtClean="0"/>
              <a:t>2. </a:t>
            </a:r>
            <a:r>
              <a:rPr lang="en-US" b="1" dirty="0" smtClean="0"/>
              <a:t>Extended</a:t>
            </a:r>
            <a:r>
              <a:rPr lang="en-US" dirty="0" smtClean="0"/>
              <a:t> Cal.- </a:t>
            </a:r>
          </a:p>
          <a:p>
            <a:pPr marL="0" indent="0">
              <a:buNone/>
            </a:pPr>
            <a:r>
              <a:rPr lang="en-US" dirty="0" smtClean="0"/>
              <a:t>Dynamic, Generated </a:t>
            </a:r>
            <a:r>
              <a:rPr lang="en-US" dirty="0"/>
              <a:t>automatically based on a combination of holiday calendars, cycles, and conditions defined.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21128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buNone/>
            </a:pPr>
            <a:r>
              <a:rPr lang="en-US" dirty="0" smtClean="0"/>
              <a:t>Defining job on GUI:-</a:t>
            </a:r>
          </a:p>
          <a:p>
            <a:pPr marL="0" indent="0">
              <a:buNone/>
            </a:pPr>
            <a:endParaRPr lang="en-US" dirty="0"/>
          </a:p>
          <a:p>
            <a:pPr marL="0" indent="0">
              <a:buNone/>
            </a:pPr>
            <a:r>
              <a:rPr lang="en-US" dirty="0" smtClean="0">
                <a:sym typeface="Wingdings" panose="05000000000000000000" pitchFamily="2" charset="2"/>
              </a:rPr>
              <a:t></a:t>
            </a:r>
            <a:r>
              <a:rPr lang="en-US" dirty="0" smtClean="0"/>
              <a:t>QEDIT</a:t>
            </a:r>
          </a:p>
          <a:p>
            <a:pPr>
              <a:buFont typeface="Wingdings" panose="05000000000000000000" pitchFamily="2" charset="2"/>
              <a:buChar char="à"/>
            </a:pPr>
            <a:r>
              <a:rPr lang="en-US" dirty="0" smtClean="0">
                <a:sym typeface="Wingdings" panose="05000000000000000000" pitchFamily="2" charset="2"/>
              </a:rPr>
              <a:t>Create</a:t>
            </a:r>
          </a:p>
          <a:p>
            <a:pPr>
              <a:buFont typeface="Wingdings" panose="05000000000000000000" pitchFamily="2" charset="2"/>
              <a:buChar char="à"/>
            </a:pPr>
            <a:r>
              <a:rPr lang="en-US" dirty="0" smtClean="0">
                <a:sym typeface="Wingdings" panose="05000000000000000000" pitchFamily="2" charset="2"/>
              </a:rPr>
              <a:t>Select Server (from Drop down)</a:t>
            </a:r>
          </a:p>
          <a:p>
            <a:pPr>
              <a:buFont typeface="Wingdings" panose="05000000000000000000" pitchFamily="2" charset="2"/>
              <a:buChar char="à"/>
            </a:pPr>
            <a:r>
              <a:rPr lang="en-US" dirty="0" smtClean="0">
                <a:sym typeface="Wingdings" panose="05000000000000000000" pitchFamily="2" charset="2"/>
              </a:rPr>
              <a:t>select job TYPE(c, f, b)</a:t>
            </a:r>
          </a:p>
          <a:p>
            <a:pPr>
              <a:buFont typeface="Wingdings" panose="05000000000000000000" pitchFamily="2" charset="2"/>
              <a:buChar char="à"/>
            </a:pPr>
            <a:r>
              <a:rPr lang="en-US" dirty="0" smtClean="0">
                <a:sym typeface="Wingdings" panose="05000000000000000000" pitchFamily="2" charset="2"/>
              </a:rPr>
              <a:t>Add details for job, name, parent, alarm, starting conditions </a:t>
            </a:r>
            <a:r>
              <a:rPr lang="en-US" dirty="0" err="1" smtClean="0">
                <a:sym typeface="Wingdings" panose="05000000000000000000" pitchFamily="2" charset="2"/>
              </a:rPr>
              <a:t>etc</a:t>
            </a:r>
            <a:r>
              <a:rPr lang="en-US" dirty="0" smtClean="0">
                <a:sym typeface="Wingdings" panose="05000000000000000000" pitchFamily="2" charset="2"/>
              </a:rPr>
              <a:t> </a:t>
            </a:r>
          </a:p>
          <a:p>
            <a:pPr>
              <a:buFont typeface="Wingdings" panose="05000000000000000000" pitchFamily="2" charset="2"/>
              <a:buChar char="à"/>
            </a:pPr>
            <a:r>
              <a:rPr lang="en-US" dirty="0" smtClean="0">
                <a:sym typeface="Wingdings" panose="05000000000000000000" pitchFamily="2" charset="2"/>
              </a:rPr>
              <a:t> commit</a:t>
            </a:r>
            <a:endParaRPr lang="en-US" dirty="0"/>
          </a:p>
        </p:txBody>
      </p:sp>
    </p:spTree>
    <p:extLst>
      <p:ext uri="{BB962C8B-B14F-4D97-AF65-F5344CB8AC3E}">
        <p14:creationId xmlns:p14="http://schemas.microsoft.com/office/powerpoint/2010/main" val="16881637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Job States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Job State </a:t>
            </a:r>
            <a:r>
              <a:rPr lang="en-US" dirty="0" smtClean="0">
                <a:sym typeface="Wingdings" pitchFamily="2" charset="2"/>
              </a:rPr>
              <a:t> the status of previous run </a:t>
            </a:r>
            <a:endParaRPr lang="en-US" dirty="0" smtClean="0"/>
          </a:p>
          <a:p>
            <a:pPr>
              <a:buNone/>
            </a:pPr>
            <a:r>
              <a:rPr lang="en-US" b="1" u="sng" dirty="0" smtClean="0"/>
              <a:t>INACTIVE</a:t>
            </a:r>
            <a:r>
              <a:rPr lang="en-US" dirty="0" smtClean="0"/>
              <a:t> : The job has not yet been processed. Either the job has never been run, or its status was intentionally altered to “turn off” its previous completion status. </a:t>
            </a:r>
            <a:br>
              <a:rPr lang="en-US" dirty="0" smtClean="0"/>
            </a:br>
            <a:r>
              <a:rPr lang="en-US" b="1" u="sng" dirty="0" smtClean="0"/>
              <a:t>ACTIVATED</a:t>
            </a:r>
            <a:r>
              <a:rPr lang="en-US" dirty="0" smtClean="0"/>
              <a:t> :The top-level box that this job is in is now in the RUNNING state, but the job itself has not started yet. </a:t>
            </a:r>
            <a:br>
              <a:rPr lang="en-US" dirty="0" smtClean="0"/>
            </a:br>
            <a:r>
              <a:rPr lang="en-US" b="1" u="sng" dirty="0" smtClean="0"/>
              <a:t>STARTING</a:t>
            </a:r>
            <a:r>
              <a:rPr lang="en-US" dirty="0" smtClean="0"/>
              <a:t> : The event processor has initiated the start job procedure with the Remote Agent. </a:t>
            </a:r>
            <a:br>
              <a:rPr lang="en-US" dirty="0" smtClean="0"/>
            </a:br>
            <a:r>
              <a:rPr lang="en-US" b="1" u="sng" dirty="0" smtClean="0"/>
              <a:t>RUNNING</a:t>
            </a:r>
            <a:r>
              <a:rPr lang="en-US" dirty="0" smtClean="0"/>
              <a:t> : The job is running. If the job is a box job, this value simply means that the jobs within the box may be started (other conditions permitting). If it is a command or file watcher job, the value means that the process is actually running on the remote machine. </a:t>
            </a:r>
            <a:br>
              <a:rPr lang="en-US" dirty="0" smtClean="0"/>
            </a:br>
            <a:endParaRPr lang="en-US" dirty="0"/>
          </a:p>
        </p:txBody>
      </p:sp>
    </p:spTree>
    <p:extLst>
      <p:ext uri="{BB962C8B-B14F-4D97-AF65-F5344CB8AC3E}">
        <p14:creationId xmlns:p14="http://schemas.microsoft.com/office/powerpoint/2010/main" val="1451329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None/>
            </a:pPr>
            <a:r>
              <a:rPr lang="en-US" sz="2800" b="1" u="sng" dirty="0" smtClean="0"/>
              <a:t>SUCCESS</a:t>
            </a:r>
            <a:r>
              <a:rPr lang="en-US" sz="2800" dirty="0" smtClean="0"/>
              <a:t> : The job exited with an exit code equal to or less than the “maximum exit code for success.” By default, only the exit code “0” is interpreted as “success.” If the job is a box job, this value means that all the jobs within the box have finished with the status SUCCESS (the default), or the “Exit Condition for Box Success” evaluated to true </a:t>
            </a:r>
          </a:p>
          <a:p>
            <a:pPr>
              <a:buNone/>
            </a:pPr>
            <a:r>
              <a:rPr lang="en-US" sz="2800" b="1" u="sng" dirty="0" smtClean="0"/>
              <a:t>FAILURE</a:t>
            </a:r>
            <a:r>
              <a:rPr lang="en-US" sz="2800" dirty="0" smtClean="0"/>
              <a:t> : The job exited with an exit code greater than the “maximum exit code for success.” By default, any number greater than zero is interpreted as “failure.” </a:t>
            </a:r>
            <a:r>
              <a:rPr lang="en-US" sz="2800" dirty="0" err="1" smtClean="0"/>
              <a:t>AutoSys</a:t>
            </a:r>
            <a:r>
              <a:rPr lang="en-US" sz="2800" dirty="0" smtClean="0"/>
              <a:t> issues an alarm if a job fails </a:t>
            </a:r>
            <a:endParaRPr lang="en-US" sz="2800" dirty="0"/>
          </a:p>
        </p:txBody>
      </p:sp>
    </p:spTree>
    <p:extLst>
      <p:ext uri="{BB962C8B-B14F-4D97-AF65-F5344CB8AC3E}">
        <p14:creationId xmlns:p14="http://schemas.microsoft.com/office/powerpoint/2010/main" val="12881973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a:buNone/>
            </a:pPr>
            <a:r>
              <a:rPr lang="en-US" sz="2800" b="1" u="sng" dirty="0" smtClean="0"/>
              <a:t>TERMINATED </a:t>
            </a:r>
            <a:r>
              <a:rPr lang="en-US" sz="2800" dirty="0" smtClean="0"/>
              <a:t>: The job terminated while in the RUNNING state. A job can be terminated if a user sends a KILLJOB event or if it was defined to terminate if the box it is in failed. If the job itself fails, it has a FAILURE status, not a TERMINATED status. A job may also be terminated if it has exceeded the maximum run time (</a:t>
            </a:r>
            <a:r>
              <a:rPr lang="en-US" sz="2800" dirty="0" err="1" smtClean="0"/>
              <a:t>term_run_time</a:t>
            </a:r>
            <a:r>
              <a:rPr lang="en-US" sz="2800" dirty="0" smtClean="0"/>
              <a:t> attribute, if one was specified for the job), or if it was killed from the command line through a UNIX kill command. </a:t>
            </a:r>
            <a:r>
              <a:rPr lang="en-US" sz="2800" dirty="0" err="1" smtClean="0"/>
              <a:t>AutoSys</a:t>
            </a:r>
            <a:r>
              <a:rPr lang="en-US" sz="2800" dirty="0" smtClean="0"/>
              <a:t> issues an alarm if a job is terminated. </a:t>
            </a:r>
            <a:br>
              <a:rPr lang="en-US" sz="2800" dirty="0" smtClean="0"/>
            </a:br>
            <a:r>
              <a:rPr lang="en-US" sz="2800" b="1" u="sng" dirty="0" smtClean="0"/>
              <a:t>RESTART</a:t>
            </a:r>
            <a:r>
              <a:rPr lang="en-US" sz="2800" dirty="0" smtClean="0"/>
              <a:t> : The job was unable to start due to hardware or application problems, and has been scheduled to restart. </a:t>
            </a:r>
            <a:endParaRPr lang="en-US" sz="2800" dirty="0"/>
          </a:p>
        </p:txBody>
      </p:sp>
    </p:spTree>
    <p:extLst>
      <p:ext uri="{BB962C8B-B14F-4D97-AF65-F5344CB8AC3E}">
        <p14:creationId xmlns:p14="http://schemas.microsoft.com/office/powerpoint/2010/main" val="4085536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None/>
            </a:pPr>
            <a:r>
              <a:rPr lang="en-US" sz="2800" b="1" u="sng" dirty="0" smtClean="0"/>
              <a:t>QUE_WAIT</a:t>
            </a:r>
            <a:r>
              <a:rPr lang="en-US" sz="2800" dirty="0" smtClean="0"/>
              <a:t> : The job can logically run (that is, all the starting conditions have been met), but there are not enough machine resources available. </a:t>
            </a:r>
            <a:br>
              <a:rPr lang="en-US" sz="2800" dirty="0" smtClean="0"/>
            </a:br>
            <a:r>
              <a:rPr lang="en-US" sz="2800" b="1" u="sng" dirty="0" smtClean="0"/>
              <a:t>ON_HOLD</a:t>
            </a:r>
            <a:r>
              <a:rPr lang="en-US" sz="2800" dirty="0" smtClean="0"/>
              <a:t> : This job is on hold and will not be run until it receives the JOB_OFF_HOLD event. </a:t>
            </a:r>
            <a:br>
              <a:rPr lang="en-US" sz="2800" dirty="0" smtClean="0"/>
            </a:br>
            <a:r>
              <a:rPr lang="en-US" sz="2800" b="1" u="sng" dirty="0" smtClean="0"/>
              <a:t>ON_ICE</a:t>
            </a:r>
            <a:r>
              <a:rPr lang="en-US" sz="2800" dirty="0" smtClean="0"/>
              <a:t> : This job is removed from all conditions and logic, but is still defined to </a:t>
            </a:r>
            <a:r>
              <a:rPr lang="en-US" sz="2800" dirty="0" err="1" smtClean="0"/>
              <a:t>AutoSys</a:t>
            </a:r>
            <a:r>
              <a:rPr lang="en-US" sz="2800" dirty="0" smtClean="0"/>
              <a:t>. Operationally, this condition is like deactivating the job. It will remain on ice until it receives the JOB_OFF_ICE event. </a:t>
            </a:r>
            <a:endParaRPr lang="en-US" sz="2800" dirty="0"/>
          </a:p>
        </p:txBody>
      </p:sp>
    </p:spTree>
    <p:extLst>
      <p:ext uri="{BB962C8B-B14F-4D97-AF65-F5344CB8AC3E}">
        <p14:creationId xmlns:p14="http://schemas.microsoft.com/office/powerpoint/2010/main" val="2301399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85000" lnSpcReduction="10000"/>
          </a:bodyPr>
          <a:lstStyle/>
          <a:p>
            <a:pPr>
              <a:buNone/>
            </a:pPr>
            <a:r>
              <a:rPr lang="en-US" dirty="0" smtClean="0"/>
              <a:t/>
            </a:r>
            <a:br>
              <a:rPr lang="en-US" dirty="0" smtClean="0"/>
            </a:br>
            <a:r>
              <a:rPr lang="en-US" sz="4200" dirty="0" smtClean="0"/>
              <a:t>Difference between "on hold" and "on ice“</a:t>
            </a:r>
          </a:p>
          <a:p>
            <a:pPr>
              <a:buNone/>
            </a:pPr>
            <a:r>
              <a:rPr lang="en-US" dirty="0" smtClean="0"/>
              <a:t>    When "</a:t>
            </a:r>
            <a:r>
              <a:rPr lang="en-US" b="1" dirty="0" smtClean="0"/>
              <a:t>on hold</a:t>
            </a:r>
            <a:r>
              <a:rPr lang="en-US" dirty="0" smtClean="0"/>
              <a:t>" job taken </a:t>
            </a:r>
            <a:r>
              <a:rPr lang="en-US" b="1" dirty="0" smtClean="0"/>
              <a:t>off hold</a:t>
            </a:r>
            <a:r>
              <a:rPr lang="en-US" b="1" dirty="0" smtClean="0">
                <a:sym typeface="Wingdings" pitchFamily="2" charset="2"/>
              </a:rPr>
              <a:t></a:t>
            </a:r>
            <a:r>
              <a:rPr lang="en-US" dirty="0" smtClean="0"/>
              <a:t> if its starting conditions satisfied</a:t>
            </a:r>
            <a:r>
              <a:rPr lang="en-US" dirty="0" smtClean="0">
                <a:sym typeface="Wingdings" pitchFamily="2" charset="2"/>
              </a:rPr>
              <a:t> will</a:t>
            </a:r>
            <a:r>
              <a:rPr lang="en-US" dirty="0" smtClean="0"/>
              <a:t> run immediately</a:t>
            </a:r>
          </a:p>
          <a:p>
            <a:pPr>
              <a:buNone/>
            </a:pPr>
            <a:r>
              <a:rPr lang="en-US" dirty="0" smtClean="0"/>
              <a:t>   when if an "</a:t>
            </a:r>
            <a:r>
              <a:rPr lang="en-US" b="1" dirty="0" smtClean="0"/>
              <a:t>on ice</a:t>
            </a:r>
            <a:r>
              <a:rPr lang="en-US" dirty="0" smtClean="0"/>
              <a:t>" job taken "</a:t>
            </a:r>
            <a:r>
              <a:rPr lang="en-US" b="1" dirty="0" smtClean="0"/>
              <a:t>off ice</a:t>
            </a:r>
            <a:r>
              <a:rPr lang="en-US" dirty="0" smtClean="0"/>
              <a:t>”</a:t>
            </a:r>
            <a:r>
              <a:rPr lang="en-US" dirty="0" smtClean="0">
                <a:sym typeface="Wingdings" pitchFamily="2" charset="2"/>
              </a:rPr>
              <a:t>NOT start Automatically(Even </a:t>
            </a:r>
            <a:r>
              <a:rPr lang="en-US" dirty="0" smtClean="0"/>
              <a:t>if its starting conditions are satisfied)</a:t>
            </a:r>
            <a:r>
              <a:rPr lang="en-US" dirty="0" smtClean="0">
                <a:sym typeface="Wingdings" pitchFamily="2" charset="2"/>
              </a:rPr>
              <a:t> wait for starting </a:t>
            </a:r>
            <a:r>
              <a:rPr lang="en-US" b="1" dirty="0" smtClean="0">
                <a:sym typeface="Wingdings" pitchFamily="2" charset="2"/>
              </a:rPr>
              <a:t>conditions to reoccur</a:t>
            </a:r>
            <a:r>
              <a:rPr lang="en-US" dirty="0" smtClean="0">
                <a:sym typeface="Wingdings" pitchFamily="2" charset="2"/>
              </a:rPr>
              <a:t> RUN</a:t>
            </a:r>
            <a:r>
              <a:rPr lang="en-US" dirty="0" smtClean="0"/>
              <a:t> </a:t>
            </a:r>
          </a:p>
          <a:p>
            <a:pPr>
              <a:buNone/>
            </a:pPr>
            <a:r>
              <a:rPr lang="en-US" dirty="0" smtClean="0"/>
              <a:t/>
            </a:r>
            <a:br>
              <a:rPr lang="en-US" dirty="0" smtClean="0"/>
            </a:br>
            <a:r>
              <a:rPr lang="en-US" dirty="0" smtClean="0"/>
              <a:t>Downstream/Dependent jobs from the “ON ICE” job will run as though the job succeeded. </a:t>
            </a:r>
          </a:p>
          <a:p>
            <a:pPr>
              <a:buNone/>
            </a:pPr>
            <a:r>
              <a:rPr lang="en-US" dirty="0" smtClean="0"/>
              <a:t>  Dependent jobs of “ON HOLD” job do NOT run until JOB is OFF HOLD</a:t>
            </a:r>
            <a:endParaRPr lang="en-US" dirty="0"/>
          </a:p>
        </p:txBody>
      </p:sp>
    </p:spTree>
    <p:extLst>
      <p:ext uri="{BB962C8B-B14F-4D97-AF65-F5344CB8AC3E}">
        <p14:creationId xmlns:p14="http://schemas.microsoft.com/office/powerpoint/2010/main" val="24197311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Status Propagation among Jobs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smtClean="0"/>
              <a:t>Any status changes in jobs, will propagate to the Box they are contained in.</a:t>
            </a:r>
          </a:p>
          <a:p>
            <a:pPr marL="0" indent="0">
              <a:buNone/>
            </a:pPr>
            <a:endParaRPr lang="en-US" dirty="0" smtClean="0"/>
          </a:p>
          <a:p>
            <a:pPr marL="0" indent="0">
              <a:buNone/>
            </a:pPr>
            <a:r>
              <a:rPr lang="en-US" dirty="0" smtClean="0"/>
              <a:t>Job Box “B”  CONTAINS Job “A”</a:t>
            </a:r>
          </a:p>
          <a:p>
            <a:pPr marL="0" indent="0">
              <a:buNone/>
            </a:pPr>
            <a:endParaRPr lang="en-US" dirty="0" smtClean="0"/>
          </a:p>
          <a:p>
            <a:pPr marL="0" indent="0">
              <a:buNone/>
            </a:pPr>
            <a:r>
              <a:rPr lang="en-US" dirty="0" smtClean="0"/>
              <a:t>If A fails:-</a:t>
            </a:r>
          </a:p>
          <a:p>
            <a:pPr marL="0" indent="0">
              <a:buNone/>
            </a:pPr>
            <a:r>
              <a:rPr lang="en-US" dirty="0" smtClean="0"/>
              <a:t>	Status of A- Failed  ; Status of B- Failed</a:t>
            </a:r>
          </a:p>
          <a:p>
            <a:pPr marL="0" indent="0">
              <a:buNone/>
            </a:pPr>
            <a:r>
              <a:rPr lang="en-US" dirty="0" smtClean="0"/>
              <a:t>	Status of other jobs in box- Unaffected</a:t>
            </a:r>
          </a:p>
          <a:p>
            <a:pPr marL="0" indent="0">
              <a:buNone/>
            </a:pPr>
            <a:endParaRPr lang="en-US" dirty="0"/>
          </a:p>
          <a:p>
            <a:pPr marL="0" indent="0">
              <a:buNone/>
            </a:pPr>
            <a:endParaRPr lang="en-US" dirty="0" smtClean="0"/>
          </a:p>
        </p:txBody>
      </p:sp>
    </p:spTree>
    <p:extLst>
      <p:ext uri="{BB962C8B-B14F-4D97-AF65-F5344CB8AC3E}">
        <p14:creationId xmlns:p14="http://schemas.microsoft.com/office/powerpoint/2010/main" val="38522998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indent="0">
              <a:buNone/>
            </a:pPr>
            <a:r>
              <a:rPr lang="en-US" u="sng" dirty="0" smtClean="0"/>
              <a:t>Job A Fails</a:t>
            </a:r>
          </a:p>
          <a:p>
            <a:pPr marL="0" indent="0">
              <a:buNone/>
            </a:pPr>
            <a:r>
              <a:rPr lang="en-US" dirty="0" smtClean="0"/>
              <a:t>  Following happens:-</a:t>
            </a:r>
          </a:p>
          <a:p>
            <a:pPr marL="0" indent="0">
              <a:buNone/>
            </a:pPr>
            <a:r>
              <a:rPr lang="en-US" dirty="0" smtClean="0"/>
              <a:t>Status of A – Failed ; Status of B- Failed</a:t>
            </a:r>
          </a:p>
          <a:p>
            <a:pPr marL="0" indent="0">
              <a:buNone/>
            </a:pPr>
            <a:r>
              <a:rPr lang="en-US" dirty="0" smtClean="0"/>
              <a:t>  To Mark both Box and Job success</a:t>
            </a:r>
            <a:r>
              <a:rPr lang="en-US" dirty="0" smtClean="0">
                <a:sym typeface="Wingdings" panose="05000000000000000000" pitchFamily="2" charset="2"/>
              </a:rPr>
              <a:t> </a:t>
            </a:r>
          </a:p>
          <a:p>
            <a:pPr marL="0" indent="0">
              <a:buNone/>
            </a:pPr>
            <a:r>
              <a:rPr lang="en-US" dirty="0">
                <a:sym typeface="Wingdings" panose="05000000000000000000" pitchFamily="2" charset="2"/>
              </a:rPr>
              <a:t> </a:t>
            </a:r>
            <a:r>
              <a:rPr lang="en-US" dirty="0" smtClean="0">
                <a:sym typeface="Wingdings" panose="05000000000000000000" pitchFamily="2" charset="2"/>
              </a:rPr>
              <a:t> ONLY mark the Job as SU ; </a:t>
            </a:r>
          </a:p>
          <a:p>
            <a:pPr marL="0" indent="0">
              <a:buNone/>
            </a:pPr>
            <a:r>
              <a:rPr lang="en-US" dirty="0" smtClean="0">
                <a:sym typeface="Wingdings" panose="05000000000000000000" pitchFamily="2" charset="2"/>
              </a:rPr>
              <a:t>	Status change will propagate to parent Box</a:t>
            </a:r>
          </a:p>
          <a:p>
            <a:pPr marL="0" indent="0">
              <a:buNone/>
            </a:pPr>
            <a:endParaRPr lang="en-US" dirty="0">
              <a:sym typeface="Wingdings" panose="05000000000000000000" pitchFamily="2" charset="2"/>
            </a:endParaRPr>
          </a:p>
          <a:p>
            <a:pPr marL="0" indent="0">
              <a:buNone/>
            </a:pPr>
            <a:r>
              <a:rPr lang="en-US" dirty="0" smtClean="0"/>
              <a:t>Note:- Machine is NOT specified for a Box Job on the </a:t>
            </a:r>
            <a:r>
              <a:rPr lang="en-US" dirty="0" err="1" smtClean="0"/>
              <a:t>Autosys</a:t>
            </a:r>
            <a:r>
              <a:rPr lang="en-US" dirty="0" smtClean="0"/>
              <a:t>, rather machine is specified for each job in box </a:t>
            </a:r>
            <a:r>
              <a:rPr lang="en-US" dirty="0" err="1" smtClean="0"/>
              <a:t>saperately</a:t>
            </a:r>
            <a:r>
              <a:rPr lang="en-US" dirty="0" smtClean="0"/>
              <a:t>.</a:t>
            </a:r>
            <a:endParaRPr lang="en-US" dirty="0"/>
          </a:p>
        </p:txBody>
      </p:sp>
    </p:spTree>
    <p:extLst>
      <p:ext uri="{BB962C8B-B14F-4D97-AF65-F5344CB8AC3E}">
        <p14:creationId xmlns:p14="http://schemas.microsoft.com/office/powerpoint/2010/main" val="11638308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pPr marL="0" indent="0">
              <a:buNone/>
            </a:pPr>
            <a:r>
              <a:rPr lang="en-US" u="sng" dirty="0" smtClean="0"/>
              <a:t>Navigating the Dependencies</a:t>
            </a:r>
          </a:p>
          <a:p>
            <a:pPr marL="0" indent="0">
              <a:buNone/>
            </a:pPr>
            <a:endParaRPr lang="en-US" dirty="0" smtClean="0"/>
          </a:p>
          <a:p>
            <a:pPr marL="0" indent="0">
              <a:buNone/>
            </a:pPr>
            <a:r>
              <a:rPr lang="en-US" dirty="0" smtClean="0"/>
              <a:t>Check the dependencies of Job A:-</a:t>
            </a:r>
            <a:endParaRPr lang="en-US" dirty="0"/>
          </a:p>
          <a:p>
            <a:pPr marL="0" indent="0">
              <a:buNone/>
            </a:pPr>
            <a:r>
              <a:rPr lang="en-US" dirty="0" smtClean="0"/>
              <a:t>Open the jobs details of job A(QVIEW)</a:t>
            </a:r>
          </a:p>
          <a:p>
            <a:pPr marL="0" indent="0">
              <a:buNone/>
            </a:pPr>
            <a:r>
              <a:rPr lang="en-US" dirty="0" smtClean="0"/>
              <a:t>Check the “Conditions” column in details</a:t>
            </a:r>
            <a:r>
              <a:rPr lang="en-US" dirty="0" smtClean="0">
                <a:sym typeface="Wingdings" panose="05000000000000000000" pitchFamily="2" charset="2"/>
              </a:rPr>
              <a:t></a:t>
            </a:r>
          </a:p>
          <a:p>
            <a:pPr marL="0" indent="0">
              <a:buNone/>
            </a:pPr>
            <a:r>
              <a:rPr lang="en-US" dirty="0">
                <a:sym typeface="Wingdings" panose="05000000000000000000" pitchFamily="2" charset="2"/>
              </a:rPr>
              <a:t> </a:t>
            </a:r>
            <a:r>
              <a:rPr lang="en-US" dirty="0" smtClean="0">
                <a:sym typeface="Wingdings" panose="05000000000000000000" pitchFamily="2" charset="2"/>
              </a:rPr>
              <a:t>     s(</a:t>
            </a:r>
            <a:r>
              <a:rPr lang="en-US" dirty="0" err="1" smtClean="0">
                <a:sym typeface="Wingdings" panose="05000000000000000000" pitchFamily="2" charset="2"/>
              </a:rPr>
              <a:t>Dep_Job</a:t>
            </a:r>
            <a:r>
              <a:rPr lang="en-US" dirty="0" smtClean="0">
                <a:sym typeface="Wingdings" panose="05000000000000000000" pitchFamily="2" charset="2"/>
              </a:rPr>
              <a:t>) , </a:t>
            </a:r>
          </a:p>
          <a:p>
            <a:pPr marL="0" indent="0">
              <a:buNone/>
            </a:pPr>
            <a:r>
              <a:rPr lang="en-US" dirty="0">
                <a:sym typeface="Wingdings" panose="05000000000000000000" pitchFamily="2" charset="2"/>
              </a:rPr>
              <a:t> </a:t>
            </a:r>
            <a:r>
              <a:rPr lang="en-US" dirty="0" smtClean="0">
                <a:sym typeface="Wingdings" panose="05000000000000000000" pitchFamily="2" charset="2"/>
              </a:rPr>
              <a:t>     i.e. Job A is dependent for its start on    	Success of “</a:t>
            </a:r>
            <a:r>
              <a:rPr lang="en-US" dirty="0" err="1" smtClean="0">
                <a:sym typeface="Wingdings" panose="05000000000000000000" pitchFamily="2" charset="2"/>
              </a:rPr>
              <a:t>Dep_Job</a:t>
            </a:r>
            <a:r>
              <a:rPr lang="en-US" dirty="0" smtClean="0">
                <a:sym typeface="Wingdings" panose="05000000000000000000" pitchFamily="2" charset="2"/>
              </a:rPr>
              <a:t>” job</a:t>
            </a:r>
          </a:p>
          <a:p>
            <a:pPr marL="0" indent="0">
              <a:buNone/>
            </a:pPr>
            <a:r>
              <a:rPr lang="en-US" dirty="0" smtClean="0">
                <a:sym typeface="Wingdings" panose="05000000000000000000" pitchFamily="2" charset="2"/>
              </a:rPr>
              <a:t>       i.e. Job A will NOT run, until </a:t>
            </a:r>
            <a:r>
              <a:rPr lang="en-US" dirty="0" err="1" smtClean="0">
                <a:sym typeface="Wingdings" panose="05000000000000000000" pitchFamily="2" charset="2"/>
              </a:rPr>
              <a:t>Dep_Job</a:t>
            </a:r>
            <a:r>
              <a:rPr lang="en-US" dirty="0" smtClean="0">
                <a:sym typeface="Wingdings" panose="05000000000000000000" pitchFamily="2" charset="2"/>
              </a:rPr>
              <a:t> goes to 	Success.</a:t>
            </a:r>
          </a:p>
        </p:txBody>
      </p:sp>
    </p:spTree>
    <p:extLst>
      <p:ext uri="{BB962C8B-B14F-4D97-AF65-F5344CB8AC3E}">
        <p14:creationId xmlns:p14="http://schemas.microsoft.com/office/powerpoint/2010/main" val="2882551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305800" cy="5668963"/>
          </a:xfrm>
        </p:spPr>
        <p:txBody>
          <a:bodyPr>
            <a:normAutofit fontScale="92500"/>
          </a:bodyPr>
          <a:lstStyle/>
          <a:p>
            <a:pPr marL="0" indent="0">
              <a:buNone/>
            </a:pPr>
            <a:r>
              <a:rPr lang="en-US" sz="2800" dirty="0" smtClean="0"/>
              <a:t>				OR</a:t>
            </a:r>
          </a:p>
          <a:p>
            <a:pPr marL="0" indent="0">
              <a:buNone/>
            </a:pPr>
            <a:r>
              <a:rPr lang="en-US" sz="2800" dirty="0" smtClean="0"/>
              <a:t>Scroll down the QVIEW page of job details</a:t>
            </a:r>
          </a:p>
          <a:p>
            <a:pPr marL="0" indent="0">
              <a:buNone/>
            </a:pPr>
            <a:r>
              <a:rPr lang="en-US" sz="2800" dirty="0" smtClean="0"/>
              <a:t>Check the “Starting Conditions” table</a:t>
            </a:r>
          </a:p>
          <a:p>
            <a:pPr marL="0" indent="0">
              <a:buNone/>
            </a:pPr>
            <a:r>
              <a:rPr lang="en-US" sz="2800" dirty="0" smtClean="0"/>
              <a:t>It will list the jobs on which the current job is dependent</a:t>
            </a:r>
          </a:p>
          <a:p>
            <a:pPr marL="0" indent="0">
              <a:buNone/>
            </a:pPr>
            <a:r>
              <a:rPr lang="en-US" sz="2800" dirty="0" smtClean="0"/>
              <a:t>  ex. s(dep_job1)&amp;&amp; s(dep_job2) ,i.e. Both jobs need to 	be Success for Job A to start</a:t>
            </a:r>
          </a:p>
          <a:p>
            <a:pPr marL="0" indent="0">
              <a:buNone/>
            </a:pPr>
            <a:endParaRPr lang="en-US" sz="2800" dirty="0"/>
          </a:p>
          <a:p>
            <a:pPr marL="0" indent="0">
              <a:buNone/>
            </a:pPr>
            <a:r>
              <a:rPr lang="en-US" sz="2800" u="sng" dirty="0" smtClean="0"/>
              <a:t>Dependent Jobs:-</a:t>
            </a:r>
          </a:p>
          <a:p>
            <a:pPr marL="0" indent="0">
              <a:buNone/>
            </a:pPr>
            <a:r>
              <a:rPr lang="en-US" sz="2800" dirty="0" smtClean="0"/>
              <a:t>Check the “Dependent Jobs” table</a:t>
            </a:r>
          </a:p>
          <a:p>
            <a:pPr marL="0" indent="0">
              <a:buNone/>
            </a:pPr>
            <a:r>
              <a:rPr lang="en-US" sz="2800" dirty="0" smtClean="0"/>
              <a:t>Lists all the jobs that are dependent on the current job.</a:t>
            </a:r>
          </a:p>
          <a:p>
            <a:pPr marL="0" indent="0">
              <a:buNone/>
            </a:pPr>
            <a:r>
              <a:rPr lang="en-US" sz="2800" dirty="0" smtClean="0"/>
              <a:t>Those listed here will NOT run/start until the current job goes to Success.</a:t>
            </a:r>
            <a:endParaRPr lang="en-US" sz="2800" dirty="0"/>
          </a:p>
          <a:p>
            <a:pPr marL="0" indent="0">
              <a:buNone/>
            </a:pPr>
            <a:endParaRPr lang="en-US" sz="2800" dirty="0"/>
          </a:p>
        </p:txBody>
      </p:sp>
    </p:spTree>
    <p:extLst>
      <p:ext uri="{BB962C8B-B14F-4D97-AF65-F5344CB8AC3E}">
        <p14:creationId xmlns:p14="http://schemas.microsoft.com/office/powerpoint/2010/main" val="1105301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Job Logs </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endParaRPr lang="en-US" dirty="0"/>
          </a:p>
          <a:p>
            <a:pPr marL="0" indent="0">
              <a:buNone/>
            </a:pPr>
            <a:r>
              <a:rPr lang="en-US" u="sng" dirty="0"/>
              <a:t>Agent Logs:-</a:t>
            </a:r>
          </a:p>
          <a:p>
            <a:pPr marL="0" indent="0">
              <a:buNone/>
            </a:pPr>
            <a:r>
              <a:rPr lang="en-US" dirty="0" smtClean="0"/>
              <a:t>	will contain the run/execute info of the job, the communication with Agent</a:t>
            </a:r>
          </a:p>
          <a:p>
            <a:pPr marL="0" indent="0">
              <a:buNone/>
            </a:pPr>
            <a:r>
              <a:rPr lang="en-US" dirty="0"/>
              <a:t>	</a:t>
            </a:r>
            <a:r>
              <a:rPr lang="en-US" dirty="0" smtClean="0"/>
              <a:t>Finding The </a:t>
            </a:r>
            <a:r>
              <a:rPr lang="en-US" b="1" dirty="0" smtClean="0"/>
              <a:t>Path</a:t>
            </a:r>
            <a:r>
              <a:rPr lang="en-US" dirty="0" smtClean="0"/>
              <a:t>:-</a:t>
            </a:r>
            <a:endParaRPr lang="en-US" dirty="0"/>
          </a:p>
          <a:p>
            <a:pPr marL="0" indent="0">
              <a:buNone/>
            </a:pPr>
            <a:r>
              <a:rPr lang="en-US" dirty="0"/>
              <a:t>. ./</a:t>
            </a:r>
            <a:r>
              <a:rPr lang="en-US" dirty="0" err="1" smtClean="0"/>
              <a:t>profile_name</a:t>
            </a:r>
            <a:r>
              <a:rPr lang="en-US" dirty="0" smtClean="0"/>
              <a:t> </a:t>
            </a:r>
            <a:r>
              <a:rPr lang="en-US" dirty="0" smtClean="0">
                <a:sym typeface="Wingdings" panose="05000000000000000000" pitchFamily="2" charset="2"/>
              </a:rPr>
              <a:t> will be mentioned on GUI</a:t>
            </a:r>
            <a:endParaRPr lang="en-US" dirty="0"/>
          </a:p>
          <a:p>
            <a:pPr marL="0" indent="0">
              <a:buNone/>
            </a:pPr>
            <a:r>
              <a:rPr lang="en-US" dirty="0"/>
              <a:t>echo $STDOUT</a:t>
            </a:r>
          </a:p>
          <a:p>
            <a:pPr marL="0" indent="0">
              <a:buNone/>
            </a:pPr>
            <a:r>
              <a:rPr lang="en-US" dirty="0"/>
              <a:t>echo STDOUT</a:t>
            </a:r>
          </a:p>
          <a:p>
            <a:pPr marL="0" indent="0">
              <a:buNone/>
            </a:pPr>
            <a:endParaRPr lang="en-US" dirty="0"/>
          </a:p>
          <a:p>
            <a:pPr marL="0" indent="0">
              <a:buNone/>
            </a:pPr>
            <a:r>
              <a:rPr lang="en-US" u="sng" dirty="0"/>
              <a:t>Job log</a:t>
            </a:r>
            <a:r>
              <a:rPr lang="en-US" u="sng" dirty="0" smtClean="0"/>
              <a:t>:-</a:t>
            </a:r>
          </a:p>
          <a:p>
            <a:pPr marL="0" indent="0">
              <a:buNone/>
            </a:pPr>
            <a:r>
              <a:rPr lang="en-US" dirty="0"/>
              <a:t>	</a:t>
            </a:r>
            <a:r>
              <a:rPr lang="en-US" dirty="0" smtClean="0"/>
              <a:t>Will contain the details of  actual processing done by the jobs</a:t>
            </a:r>
            <a:endParaRPr lang="en-US" dirty="0"/>
          </a:p>
          <a:p>
            <a:pPr marL="0" indent="0">
              <a:buNone/>
            </a:pPr>
            <a:r>
              <a:rPr lang="en-US" dirty="0" smtClean="0"/>
              <a:t>	</a:t>
            </a:r>
            <a:r>
              <a:rPr lang="en-US" b="1" dirty="0" smtClean="0"/>
              <a:t>Path</a:t>
            </a:r>
            <a:r>
              <a:rPr lang="en-US" dirty="0" smtClean="0"/>
              <a:t> :- mentioned </a:t>
            </a:r>
            <a:r>
              <a:rPr lang="en-US" dirty="0"/>
              <a:t>in </a:t>
            </a:r>
            <a:r>
              <a:rPr lang="en-US" b="1" dirty="0"/>
              <a:t>agent </a:t>
            </a:r>
            <a:r>
              <a:rPr lang="en-US" b="1" dirty="0" smtClean="0"/>
              <a:t>log</a:t>
            </a:r>
            <a:r>
              <a:rPr lang="en-US" dirty="0" smtClean="0"/>
              <a:t>(generally will be </a:t>
            </a:r>
            <a:r>
              <a:rPr lang="en-US" dirty="0"/>
              <a:t>../</a:t>
            </a:r>
            <a:r>
              <a:rPr lang="en-US" dirty="0" err="1" smtClean="0"/>
              <a:t>var</a:t>
            </a:r>
            <a:r>
              <a:rPr lang="en-US" dirty="0" smtClean="0"/>
              <a:t> path on app server)</a:t>
            </a:r>
            <a:endParaRPr lang="en-US" dirty="0"/>
          </a:p>
        </p:txBody>
      </p:sp>
    </p:spTree>
    <p:extLst>
      <p:ext uri="{BB962C8B-B14F-4D97-AF65-F5344CB8AC3E}">
        <p14:creationId xmlns:p14="http://schemas.microsoft.com/office/powerpoint/2010/main" val="23848740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914400"/>
            <a:ext cx="7924800" cy="5211763"/>
          </a:xfrm>
        </p:spPr>
        <p:txBody>
          <a:bodyPr/>
          <a:lstStyle/>
          <a:p>
            <a:pPr marL="0" indent="0">
              <a:buNone/>
            </a:pPr>
            <a:r>
              <a:rPr lang="en-US" dirty="0" smtClean="0"/>
              <a:t>Checking if </a:t>
            </a:r>
            <a:r>
              <a:rPr lang="en-US" dirty="0" err="1" smtClean="0"/>
              <a:t>Autosys</a:t>
            </a:r>
            <a:r>
              <a:rPr lang="en-US" dirty="0" smtClean="0"/>
              <a:t> Agent is UP on application server:-</a:t>
            </a:r>
          </a:p>
          <a:p>
            <a:pPr marL="0" indent="0">
              <a:buNone/>
            </a:pPr>
            <a:r>
              <a:rPr lang="en-US" dirty="0" smtClean="0"/>
              <a:t> run below on server:-</a:t>
            </a:r>
            <a:endParaRPr lang="en-US" dirty="0"/>
          </a:p>
          <a:p>
            <a:pPr marL="0" indent="0">
              <a:buNone/>
            </a:pPr>
            <a:r>
              <a:rPr lang="en-US" dirty="0"/>
              <a:t> </a:t>
            </a:r>
            <a:r>
              <a:rPr lang="en-US" dirty="0" err="1" smtClean="0"/>
              <a:t>ps</a:t>
            </a:r>
            <a:r>
              <a:rPr lang="en-US" dirty="0" smtClean="0"/>
              <a:t> –</a:t>
            </a:r>
            <a:r>
              <a:rPr lang="en-US" dirty="0" err="1" smtClean="0"/>
              <a:t>ef|grep</a:t>
            </a:r>
            <a:r>
              <a:rPr lang="en-US" dirty="0" smtClean="0"/>
              <a:t> WA_AGENT</a:t>
            </a:r>
          </a:p>
          <a:p>
            <a:pPr marL="0" indent="0">
              <a:buNone/>
            </a:pPr>
            <a:endParaRPr lang="en-US" dirty="0" smtClean="0"/>
          </a:p>
          <a:p>
            <a:pPr marL="0" indent="0">
              <a:buNone/>
            </a:pPr>
            <a:r>
              <a:rPr lang="en-US" dirty="0" smtClean="0"/>
              <a:t>Generally a server will have multiple agents running.</a:t>
            </a:r>
            <a:endParaRPr lang="en-US" dirty="0"/>
          </a:p>
        </p:txBody>
      </p:sp>
    </p:spTree>
    <p:extLst>
      <p:ext uri="{BB962C8B-B14F-4D97-AF65-F5344CB8AC3E}">
        <p14:creationId xmlns:p14="http://schemas.microsoft.com/office/powerpoint/2010/main" val="9652388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US" sz="8800" dirty="0" smtClean="0"/>
          </a:p>
          <a:p>
            <a:pPr marL="0" indent="0" algn="ctr">
              <a:buNone/>
            </a:pPr>
            <a:r>
              <a:rPr lang="en-US" sz="8800" dirty="0" smtClean="0"/>
              <a:t>Thanks You </a:t>
            </a:r>
            <a:r>
              <a:rPr lang="en-US" sz="8800" dirty="0" smtClean="0">
                <a:sym typeface="Wingdings" panose="05000000000000000000" pitchFamily="2" charset="2"/>
              </a:rPr>
              <a:t></a:t>
            </a:r>
            <a:endParaRPr lang="en-US" sz="8800" dirty="0" smtClean="0"/>
          </a:p>
        </p:txBody>
      </p:sp>
    </p:spTree>
    <p:extLst>
      <p:ext uri="{BB962C8B-B14F-4D97-AF65-F5344CB8AC3E}">
        <p14:creationId xmlns:p14="http://schemas.microsoft.com/office/powerpoint/2010/main" val="41269980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5288</TotalTime>
  <Words>1047</Words>
  <Application>Microsoft Office PowerPoint</Application>
  <PresentationFormat>On-screen Show (4:3)</PresentationFormat>
  <Paragraphs>282</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Wingdings</vt:lpstr>
      <vt:lpstr>Office Theme</vt:lpstr>
      <vt:lpstr>Autosys </vt:lpstr>
      <vt:lpstr>INDEX</vt:lpstr>
      <vt:lpstr>PowerPoint Presentation</vt:lpstr>
      <vt:lpstr>What is Autosys?</vt:lpstr>
      <vt:lpstr>PowerPoint Presentation</vt:lpstr>
      <vt:lpstr>Autosys System Components </vt:lpstr>
      <vt:lpstr>PowerPoint Presentation</vt:lpstr>
      <vt:lpstr>PowerPoint Presentation</vt:lpstr>
      <vt:lpstr>PowerPoint Presentation</vt:lpstr>
      <vt:lpstr>PowerPoint Presentation</vt:lpstr>
      <vt:lpstr>How Autosys Works? </vt:lpstr>
      <vt:lpstr>PowerPoint Presentation</vt:lpstr>
      <vt:lpstr>PowerPoint Presentation</vt:lpstr>
      <vt:lpstr>PowerPoint Presentation</vt:lpstr>
      <vt:lpstr>Autosys GUI and CLI</vt:lpstr>
      <vt:lpstr>PowerPoint Presentation</vt:lpstr>
      <vt:lpstr>Writing Autosys Jobs- Using JIL</vt:lpstr>
      <vt:lpstr>PowerPoint Presentation</vt:lpstr>
      <vt:lpstr>PowerPoint Presentation</vt:lpstr>
      <vt:lpstr>PowerPoint Presentation</vt:lpstr>
      <vt:lpstr>Job Types</vt:lpstr>
      <vt:lpstr>PowerPoint Presentation</vt:lpstr>
      <vt:lpstr>PowerPoint Presentation</vt:lpstr>
      <vt:lpstr>PowerPoint Presentation</vt:lpstr>
      <vt:lpstr>PowerPoint Presentation</vt:lpstr>
      <vt:lpstr>GUI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Job States</vt:lpstr>
      <vt:lpstr>PowerPoint Presentation</vt:lpstr>
      <vt:lpstr>PowerPoint Presentation</vt:lpstr>
      <vt:lpstr>PowerPoint Presentation</vt:lpstr>
      <vt:lpstr>PowerPoint Presentation</vt:lpstr>
      <vt:lpstr>Status Propagation among Jobs</vt:lpstr>
      <vt:lpstr>PowerPoint Presentation</vt:lpstr>
      <vt:lpstr>PowerPoint Presentation</vt:lpstr>
      <vt:lpstr>PowerPoint Presentation</vt:lpstr>
      <vt:lpstr>Job Logs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kcs</dc:creator>
  <cp:lastModifiedBy>Megha Yadav</cp:lastModifiedBy>
  <cp:revision>109</cp:revision>
  <dcterms:created xsi:type="dcterms:W3CDTF">2016-07-13T16:48:48Z</dcterms:created>
  <dcterms:modified xsi:type="dcterms:W3CDTF">2019-04-06T13:44:08Z</dcterms:modified>
</cp:coreProperties>
</file>